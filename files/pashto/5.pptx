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64" r:id="rId2"/>
    <p:sldId id="263" r:id="rId3"/>
    <p:sldId id="262"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59"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7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8EED9A-5A16-47C7-9227-4F66A98980E5}" type="datetimeFigureOut">
              <a:rPr lang="en-US" smtClean="0"/>
              <a:t>7/1/2026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2F1356-1C30-4D6C-B0B3-98111F877A5D}" type="slidenum">
              <a:rPr lang="en-US" smtClean="0"/>
              <a:t>‹#›</a:t>
            </a:fld>
            <a:endParaRPr lang="en-US"/>
          </a:p>
        </p:txBody>
      </p:sp>
    </p:spTree>
    <p:extLst>
      <p:ext uri="{BB962C8B-B14F-4D97-AF65-F5344CB8AC3E}">
        <p14:creationId xmlns:p14="http://schemas.microsoft.com/office/powerpoint/2010/main" val="4137326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2F1356-1C30-4D6C-B0B3-98111F877A5D}" type="slidenum">
              <a:rPr lang="en-US" smtClean="0"/>
              <a:t>3</a:t>
            </a:fld>
            <a:endParaRPr lang="en-US"/>
          </a:p>
        </p:txBody>
      </p:sp>
    </p:spTree>
    <p:extLst>
      <p:ext uri="{BB962C8B-B14F-4D97-AF65-F5344CB8AC3E}">
        <p14:creationId xmlns:p14="http://schemas.microsoft.com/office/powerpoint/2010/main" val="157328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2F1356-1C30-4D6C-B0B3-98111F877A5D}" type="slidenum">
              <a:rPr lang="en-US" smtClean="0"/>
              <a:t>39</a:t>
            </a:fld>
            <a:endParaRPr lang="en-US"/>
          </a:p>
        </p:txBody>
      </p:sp>
    </p:spTree>
    <p:extLst>
      <p:ext uri="{BB962C8B-B14F-4D97-AF65-F5344CB8AC3E}">
        <p14:creationId xmlns:p14="http://schemas.microsoft.com/office/powerpoint/2010/main" val="3847464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846E14-57C7-43F9-B3F0-EC86811B36E1}"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4122692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846E14-57C7-43F9-B3F0-EC86811B36E1}"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3521203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846E14-57C7-43F9-B3F0-EC86811B36E1}"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1496502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846E14-57C7-43F9-B3F0-EC86811B36E1}"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237753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846E14-57C7-43F9-B3F0-EC86811B36E1}"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4003920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846E14-57C7-43F9-B3F0-EC86811B36E1}"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3631891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846E14-57C7-43F9-B3F0-EC86811B36E1}"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4009625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846E14-57C7-43F9-B3F0-EC86811B36E1}"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110677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846E14-57C7-43F9-B3F0-EC86811B36E1}"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31095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846E14-57C7-43F9-B3F0-EC86811B36E1}"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78209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846E14-57C7-43F9-B3F0-EC86811B36E1}"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EA337-C126-4F24-8B3B-E231798C9F15}" type="slidenum">
              <a:rPr lang="en-US" smtClean="0"/>
              <a:t>‹#›</a:t>
            </a:fld>
            <a:endParaRPr lang="en-US"/>
          </a:p>
        </p:txBody>
      </p:sp>
    </p:spTree>
    <p:extLst>
      <p:ext uri="{BB962C8B-B14F-4D97-AF65-F5344CB8AC3E}">
        <p14:creationId xmlns:p14="http://schemas.microsoft.com/office/powerpoint/2010/main" val="2519898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846E14-57C7-43F9-B3F0-EC86811B36E1}"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2EA337-C126-4F24-8B3B-E231798C9F15}" type="slidenum">
              <a:rPr lang="en-US" smtClean="0"/>
              <a:t>‹#›</a:t>
            </a:fld>
            <a:endParaRPr lang="en-US"/>
          </a:p>
        </p:txBody>
      </p:sp>
    </p:spTree>
    <p:extLst>
      <p:ext uri="{BB962C8B-B14F-4D97-AF65-F5344CB8AC3E}">
        <p14:creationId xmlns:p14="http://schemas.microsoft.com/office/powerpoint/2010/main" val="3916074457"/>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2.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143000"/>
            <a:ext cx="7772400" cy="1470025"/>
          </a:xfrm>
        </p:spPr>
        <p:txBody>
          <a:bodyPr/>
          <a:lstStyle/>
          <a:p>
            <a:pPr rtl="1"/>
            <a:r>
              <a:rPr lang="fa-IR" dirty="0" smtClean="0"/>
              <a:t>موضوع کنفرانس:اهتمامات ابتدائی نزد مریضان تسممات و</a:t>
            </a:r>
            <a:r>
              <a:rPr lang="en-US" dirty="0" smtClean="0"/>
              <a:t>Drug </a:t>
            </a:r>
            <a:r>
              <a:rPr lang="en-US" dirty="0" err="1" smtClean="0"/>
              <a:t>overdosage</a:t>
            </a:r>
            <a:endParaRPr lang="en-US" dirty="0"/>
          </a:p>
        </p:txBody>
      </p:sp>
      <p:sp>
        <p:nvSpPr>
          <p:cNvPr id="3" name="Subtitle 2"/>
          <p:cNvSpPr>
            <a:spLocks noGrp="1"/>
          </p:cNvSpPr>
          <p:nvPr>
            <p:ph type="subTitle" idx="1"/>
          </p:nvPr>
        </p:nvSpPr>
        <p:spPr>
          <a:xfrm>
            <a:off x="762000" y="3886200"/>
            <a:ext cx="7010400" cy="1752600"/>
          </a:xfrm>
        </p:spPr>
        <p:txBody>
          <a:bodyPr>
            <a:normAutofit fontScale="92500" lnSpcReduction="10000"/>
          </a:bodyPr>
          <a:lstStyle/>
          <a:p>
            <a:pPr algn="r" rtl="1"/>
            <a:r>
              <a:rPr lang="fa-IR" sz="3500" dirty="0" smtClean="0"/>
              <a:t> </a:t>
            </a:r>
            <a:r>
              <a:rPr lang="fa-IR" sz="3500" dirty="0" smtClean="0">
                <a:solidFill>
                  <a:schemeClr val="tx1"/>
                </a:solidFill>
              </a:rPr>
              <a:t>کنفرانس دهنده:رن</a:t>
            </a:r>
            <a:r>
              <a:rPr lang="ps-AF" sz="3500" dirty="0" smtClean="0">
                <a:solidFill>
                  <a:schemeClr val="tx1"/>
                </a:solidFill>
              </a:rPr>
              <a:t>ځ</a:t>
            </a:r>
            <a:r>
              <a:rPr lang="fa-IR" sz="3500" dirty="0" smtClean="0">
                <a:solidFill>
                  <a:schemeClr val="tx1"/>
                </a:solidFill>
              </a:rPr>
              <a:t>ورپوه دوکتورنوراحمد(عارفی) </a:t>
            </a:r>
          </a:p>
          <a:p>
            <a:pPr algn="r" rtl="1"/>
            <a:endParaRPr lang="fa-IR" sz="3600" dirty="0">
              <a:solidFill>
                <a:schemeClr val="tx1"/>
              </a:solidFill>
            </a:endParaRPr>
          </a:p>
          <a:p>
            <a:pPr algn="r" rtl="1"/>
            <a:r>
              <a:rPr lang="fa-IR" sz="3600" dirty="0" smtClean="0">
                <a:solidFill>
                  <a:schemeClr val="tx1"/>
                </a:solidFill>
              </a:rPr>
              <a:t>  تاریخ کنفرانس </a:t>
            </a:r>
            <a:r>
              <a:rPr lang="ps-AF" sz="3600" dirty="0" smtClean="0">
                <a:solidFill>
                  <a:schemeClr val="tx1"/>
                </a:solidFill>
              </a:rPr>
              <a:t>۲۱و۲۲اسد</a:t>
            </a:r>
            <a:r>
              <a:rPr lang="fa-IR" sz="3600" dirty="0" smtClean="0">
                <a:solidFill>
                  <a:schemeClr val="tx1"/>
                </a:solidFill>
              </a:rPr>
              <a:t> </a:t>
            </a:r>
            <a:r>
              <a:rPr lang="ps-AF" sz="3600" dirty="0" smtClean="0">
                <a:solidFill>
                  <a:schemeClr val="tx1"/>
                </a:solidFill>
              </a:rPr>
              <a:t>۱۴۰۵</a:t>
            </a:r>
            <a:r>
              <a:rPr lang="fa-IR" sz="3600" dirty="0" smtClean="0">
                <a:solidFill>
                  <a:schemeClr val="tx1"/>
                </a:solidFill>
              </a:rPr>
              <a:t>هجری شمسی</a:t>
            </a:r>
            <a:endParaRPr lang="en-US" sz="3600" dirty="0">
              <a:solidFill>
                <a:schemeClr val="tx1"/>
              </a:solidFill>
            </a:endParaRPr>
          </a:p>
        </p:txBody>
      </p:sp>
    </p:spTree>
    <p:extLst>
      <p:ext uri="{BB962C8B-B14F-4D97-AF65-F5344CB8AC3E}">
        <p14:creationId xmlns:p14="http://schemas.microsoft.com/office/powerpoint/2010/main" val="7159649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a-IR" dirty="0"/>
              <a:t>.</a:t>
            </a:r>
            <a:endParaRPr lang="en-US" dirty="0"/>
          </a:p>
        </p:txBody>
      </p:sp>
      <p:sp>
        <p:nvSpPr>
          <p:cNvPr id="3" name="Subtitle 2"/>
          <p:cNvSpPr>
            <a:spLocks noGrp="1"/>
          </p:cNvSpPr>
          <p:nvPr>
            <p:ph type="subTitle" idx="1"/>
          </p:nvPr>
        </p:nvSpPr>
        <p:spPr>
          <a:xfrm>
            <a:off x="685800" y="2362200"/>
            <a:ext cx="8077200" cy="1752600"/>
          </a:xfrm>
        </p:spPr>
        <p:txBody>
          <a:bodyPr>
            <a:normAutofit/>
          </a:bodyPr>
          <a:lstStyle/>
          <a:p>
            <a:pPr algn="r"/>
            <a:r>
              <a:rPr lang="fa-IR" sz="4400" dirty="0" smtClean="0">
                <a:solidFill>
                  <a:schemeClr val="tx1"/>
                </a:solidFill>
              </a:rPr>
              <a:t>بنام خداوند جان آفرین</a:t>
            </a:r>
          </a:p>
          <a:p>
            <a:pPr algn="r"/>
            <a:r>
              <a:rPr lang="fa-IR" sz="4400" dirty="0">
                <a:solidFill>
                  <a:schemeClr val="tx1"/>
                </a:solidFill>
              </a:rPr>
              <a:t> </a:t>
            </a:r>
            <a:r>
              <a:rPr lang="fa-IR" sz="4400" dirty="0" smtClean="0">
                <a:solidFill>
                  <a:schemeClr val="tx1"/>
                </a:solidFill>
              </a:rPr>
              <a:t>                 حکیم سخن برزبان آفرین</a:t>
            </a:r>
            <a:endParaRPr lang="en-US" sz="4400" dirty="0">
              <a:solidFill>
                <a:schemeClr val="tx1"/>
              </a:solidFill>
            </a:endParaRPr>
          </a:p>
        </p:txBody>
      </p:sp>
    </p:spTree>
    <p:extLst>
      <p:ext uri="{BB962C8B-B14F-4D97-AF65-F5344CB8AC3E}">
        <p14:creationId xmlns:p14="http://schemas.microsoft.com/office/powerpoint/2010/main" val="22481495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
            </a:r>
            <a:br>
              <a:rPr lang="fa-IR" dirty="0" smtClean="0"/>
            </a:br>
            <a:r>
              <a:rPr lang="en-US" dirty="0" smtClean="0"/>
              <a:t>:</a:t>
            </a:r>
            <a:r>
              <a:rPr lang="fa-IR" dirty="0" smtClean="0"/>
              <a:t>اهتمامات ابتدائی نزدمریضان تسمم وتسمم دوائی</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fa-IR" dirty="0" smtClean="0"/>
              <a:t>مریضان تسمم ویامریضان ایکه دوز زیاد ادویه طبی رااخذ  نموده اند ممکن درمراحل ابتدائی ازخود کدام اعراض وعلایم تسمم رانشان ندهند ودریکی ازمراحل مختلف تسمم قرارداشته باشند ویابعضی ازاوقات ممکن بایک دوزکشنده دواویا سم </a:t>
            </a:r>
          </a:p>
          <a:p>
            <a:pPr marL="0" indent="0" algn="r" rtl="1">
              <a:buNone/>
            </a:pPr>
            <a:r>
              <a:rPr lang="fa-IR" dirty="0" smtClean="0"/>
              <a:t>مرا جعه نموده باشند ولی درزمان مراجعه به شفاخانه کدام عرض واضع را ازخود نشان ندهند ولی بعد ازگذشت زمان حالت کلینیکی مریض دفعتاخراب شود</a:t>
            </a:r>
          </a:p>
          <a:p>
            <a:pPr marL="0" indent="0" algn="r" rtl="1">
              <a:buNone/>
            </a:pPr>
            <a:r>
              <a:rPr lang="fa-IR" dirty="0" smtClean="0"/>
              <a:t>دروقت مراجعه مریض تسمم چارنقطه عمده ایکه مدت نظر باشد عبارت است از:</a:t>
            </a:r>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04800"/>
            <a:ext cx="663892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2859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lstStyle/>
          <a:p>
            <a:r>
              <a:rPr lang="fa-IR" dirty="0" smtClean="0"/>
              <a:t>ادامه</a:t>
            </a:r>
            <a:endParaRPr lang="en-US" dirty="0"/>
          </a:p>
        </p:txBody>
      </p:sp>
      <p:sp>
        <p:nvSpPr>
          <p:cNvPr id="3" name="Subtitle 2"/>
          <p:cNvSpPr>
            <a:spLocks noGrp="1"/>
          </p:cNvSpPr>
          <p:nvPr>
            <p:ph type="subTitle" idx="1"/>
          </p:nvPr>
        </p:nvSpPr>
        <p:spPr>
          <a:xfrm>
            <a:off x="914400" y="1828800"/>
            <a:ext cx="6858000" cy="4495800"/>
          </a:xfrm>
        </p:spPr>
        <p:txBody>
          <a:bodyPr/>
          <a:lstStyle/>
          <a:p>
            <a:pPr algn="r"/>
            <a:r>
              <a:rPr lang="fa-IR" dirty="0" smtClean="0">
                <a:solidFill>
                  <a:schemeClr val="tx1"/>
                </a:solidFill>
              </a:rPr>
              <a:t>1:ارزیابی نمودن خطرناک بودن سم</a:t>
            </a:r>
          </a:p>
          <a:p>
            <a:pPr algn="r"/>
            <a:r>
              <a:rPr lang="fa-IR" dirty="0" smtClean="0">
                <a:solidFill>
                  <a:schemeClr val="tx1"/>
                </a:solidFill>
              </a:rPr>
              <a:t>2پاک نمودن امعا وجلدوبعضا چشم ازمواد زهری</a:t>
            </a:r>
          </a:p>
          <a:p>
            <a:pPr algn="r" rtl="1"/>
            <a:r>
              <a:rPr lang="fa-IR" dirty="0" smtClean="0">
                <a:solidFill>
                  <a:schemeClr val="tx1"/>
                </a:solidFill>
              </a:rPr>
              <a:t>3تداوی نمودن اختلاطات بوجود آمده ازسم</a:t>
            </a:r>
          </a:p>
          <a:p>
            <a:pPr algn="r" rtl="1"/>
            <a:r>
              <a:rPr lang="fa-IR" dirty="0" smtClean="0">
                <a:solidFill>
                  <a:schemeClr val="tx1"/>
                </a:solidFill>
              </a:rPr>
              <a:t>4تحت مشاهده قراردادن مریضان ایکه بدون عرض استند به وقفه هامتعدد</a:t>
            </a:r>
          </a:p>
          <a:p>
            <a:pPr algn="r" rtl="1"/>
            <a:endParaRPr lang="fa-IR" dirty="0" smtClean="0">
              <a:solidFill>
                <a:schemeClr val="tx1"/>
              </a:solidFill>
            </a:endParaRPr>
          </a:p>
          <a:p>
            <a:pPr algn="r" rtl="1"/>
            <a:endParaRPr lang="en-US" dirty="0">
              <a:solidFill>
                <a:schemeClr val="tx1"/>
              </a:solidFill>
            </a:endParaRPr>
          </a:p>
        </p:txBody>
      </p:sp>
    </p:spTree>
    <p:extLst>
      <p:ext uri="{BB962C8B-B14F-4D97-AF65-F5344CB8AC3E}">
        <p14:creationId xmlns:p14="http://schemas.microsoft.com/office/powerpoint/2010/main" val="9937289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fa-IR" dirty="0" smtClean="0"/>
              <a:t>ن</a:t>
            </a:r>
            <a:endParaRPr lang="en-US" dirty="0"/>
          </a:p>
        </p:txBody>
      </p:sp>
      <p:sp>
        <p:nvSpPr>
          <p:cNvPr id="3" name="Subtitle 2"/>
          <p:cNvSpPr>
            <a:spLocks noGrp="1"/>
          </p:cNvSpPr>
          <p:nvPr>
            <p:ph type="subTitle" idx="1"/>
          </p:nvPr>
        </p:nvSpPr>
        <p:spPr>
          <a:xfrm>
            <a:off x="609600" y="1676400"/>
            <a:ext cx="7848600" cy="3962400"/>
          </a:xfrm>
        </p:spPr>
        <p:txBody>
          <a:bodyPr>
            <a:normAutofit fontScale="85000" lnSpcReduction="10000"/>
          </a:bodyPr>
          <a:lstStyle/>
          <a:p>
            <a:pPr algn="r"/>
            <a:r>
              <a:rPr lang="fa-IR" dirty="0" smtClean="0">
                <a:solidFill>
                  <a:schemeClr val="tx1"/>
                </a:solidFill>
              </a:rPr>
              <a:t>درصوتیکه نوع سم معلوم باشدبامراجعه با کتاب های طبی</a:t>
            </a:r>
          </a:p>
          <a:p>
            <a:pPr algn="r" rtl="1"/>
            <a:r>
              <a:rPr lang="fa-IR" dirty="0" smtClean="0">
                <a:solidFill>
                  <a:schemeClr val="tx1"/>
                </a:solidFill>
              </a:rPr>
              <a:t> انترنت ویاتماس تیلفونی بامراکزکنترول تسممات که دربعضی ازکشورها موجود است راجع به نوع وشدت خطرناک بودن سم معلومات بدست آورده میتوانیم .بعداازمریض راجع به مقداردوا,زمان اخذدوا,زمان بوجود آمدن اعراض وعلایم, موجودیت امراض ضمیموی قبلی مخصوصا امراض قلبی,کلیوی,تنفسی,وامراض کبدی ودرمراحل بعدی اندازه نمودن اندازه معاینه مواد توکسیک درسیروم خون میباشد</a:t>
            </a:r>
          </a:p>
          <a:p>
            <a:pPr algn="r" rtl="1"/>
            <a:r>
              <a:rPr lang="fa-IR" dirty="0" smtClean="0">
                <a:solidFill>
                  <a:schemeClr val="tx1"/>
                </a:solidFill>
              </a:rPr>
              <a:t>بایدخاطرنشان ساخت که دربعضی ازحالات مشاهده گرفتن ازمریض ویاپایوازمریض قابل اعتبار نمی باشد وقضیه را گنگ بیان میدارند </a:t>
            </a:r>
          </a:p>
          <a:p>
            <a:pPr algn="r" rtl="1"/>
            <a:endParaRPr lang="en-US" dirty="0">
              <a:solidFill>
                <a:schemeClr val="tx1"/>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762000"/>
            <a:ext cx="434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39863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pPr algn="r" rtl="1"/>
            <a:r>
              <a:rPr lang="fa-IR" dirty="0" smtClean="0"/>
              <a:t>مریضانیکه بدون اعراض استند ومریضانیکه اعراض وعلایم خفیف دارندحداقل برای مدت4-6ساعت تحت مشاهده باشند این زمان میتواند طولانی هم شودالبته نزدمریضان ذیل:</a:t>
            </a:r>
          </a:p>
          <a:p>
            <a:pPr algn="r" rtl="1"/>
            <a:r>
              <a:rPr lang="fa-IR" dirty="0" smtClean="0"/>
              <a:t>مریضانیکه ادویه              رااخذنموده ویاادویه جاتی را اخذنموده که حرکات امعا راکم بسازدمثل اوپیات هااورگانوفاسفیت ها واسپرین ویاممکن سمیات ویاادویه رااخذ نموده باشدکه اعراض وعلایم آن موخر ظاهرشود مثل  </a:t>
            </a:r>
            <a:r>
              <a:rPr lang="en-US" dirty="0" err="1" smtClean="0"/>
              <a:t>Acetaminophen,cholchicin</a:t>
            </a:r>
            <a:r>
              <a:rPr lang="fa-IR" dirty="0" smtClean="0"/>
              <a:t>وبعضی ازسمارق ها</a:t>
            </a:r>
          </a:p>
          <a:p>
            <a:pPr algn="r" rtl="1"/>
            <a:r>
              <a:rPr lang="fa-IR" dirty="0" smtClean="0"/>
              <a:t>بعدا درصورتیکه مریض بدون عرض باقی بماندازشفاخانه رخصت وقبل ازرخصت شدن ازشفاخانه بهتراست که مریض به داکترروانشناس معرفی گردد.</a:t>
            </a:r>
          </a:p>
          <a:p>
            <a:pPr algn="r" rtl="1"/>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81000"/>
            <a:ext cx="44196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743200"/>
            <a:ext cx="14238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6928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9269" y="304800"/>
            <a:ext cx="7772400" cy="1470025"/>
          </a:xfrm>
        </p:spPr>
        <p:txBody>
          <a:bodyPr/>
          <a:lstStyle/>
          <a:p>
            <a:r>
              <a:rPr lang="fa-IR" dirty="0" smtClean="0"/>
              <a:t>ت</a:t>
            </a:r>
            <a:endParaRPr lang="en-US" dirty="0"/>
          </a:p>
        </p:txBody>
      </p:sp>
      <p:sp>
        <p:nvSpPr>
          <p:cNvPr id="3" name="Subtitle 2"/>
          <p:cNvSpPr>
            <a:spLocks noGrp="1"/>
          </p:cNvSpPr>
          <p:nvPr>
            <p:ph type="subTitle" idx="1"/>
          </p:nvPr>
        </p:nvSpPr>
        <p:spPr>
          <a:xfrm>
            <a:off x="609600" y="1905000"/>
            <a:ext cx="7924800" cy="3733800"/>
          </a:xfrm>
        </p:spPr>
        <p:txBody>
          <a:bodyPr>
            <a:normAutofit lnSpcReduction="10000"/>
          </a:bodyPr>
          <a:lstStyle/>
          <a:p>
            <a:pPr algn="r" rtl="1"/>
            <a:r>
              <a:rPr lang="fa-IR" dirty="0" smtClean="0">
                <a:solidFill>
                  <a:schemeClr val="tx1"/>
                </a:solidFill>
              </a:rPr>
              <a:t>مریضانیکه عرضی استند از همه اولتربایددرنزدشان تداوی امراض تهدید کننده حیات ترجیح داده میشودالبته قبل ازاینکه تشخیص اصلی سم وضع گردددربعضی ازاوقات دیده شده که مریض درابتداحالت کلینیکی خوب داشته ولی دفعتا وضعیت شان خراب میشود .به همین دلیل مریض درساحه بستری شوند که همه امکانات طبی دردسترس باشد.</a:t>
            </a:r>
          </a:p>
          <a:p>
            <a:pPr algn="r" rtl="1"/>
            <a:r>
              <a:rPr lang="fa-IR" dirty="0" smtClean="0">
                <a:solidFill>
                  <a:schemeClr val="tx1"/>
                </a:solidFill>
              </a:rPr>
              <a:t>بعضی ازاختلاطات باتداوی آن درذیل ذکرمیگردد.</a:t>
            </a:r>
            <a:endParaRPr lang="en-US" dirty="0">
              <a:solidFill>
                <a:schemeClr val="tx1"/>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4269" y="685800"/>
            <a:ext cx="396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96804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0431" y="304800"/>
            <a:ext cx="7772400" cy="1470025"/>
          </a:xfrm>
        </p:spPr>
        <p:txBody>
          <a:bodyPr/>
          <a:lstStyle/>
          <a:p>
            <a:endParaRPr lang="en-US" dirty="0"/>
          </a:p>
        </p:txBody>
      </p:sp>
      <p:sp>
        <p:nvSpPr>
          <p:cNvPr id="3" name="Subtitle 2"/>
          <p:cNvSpPr>
            <a:spLocks noGrp="1"/>
          </p:cNvSpPr>
          <p:nvPr>
            <p:ph type="subTitle" idx="1"/>
          </p:nvPr>
        </p:nvSpPr>
        <p:spPr>
          <a:xfrm>
            <a:off x="685800" y="1752600"/>
            <a:ext cx="7924800" cy="4495800"/>
          </a:xfrm>
        </p:spPr>
        <p:txBody>
          <a:bodyPr/>
          <a:lstStyle/>
          <a:p>
            <a:pPr algn="r"/>
            <a:r>
              <a:rPr lang="fa-IR" dirty="0" smtClean="0">
                <a:solidFill>
                  <a:schemeClr val="tx1"/>
                </a:solidFill>
              </a:rPr>
              <a:t>کوما اکثرابه تعقیب خوردن مقدارزیادادویه ویاسم بوجودمیایدمثلا:</a:t>
            </a:r>
          </a:p>
          <a:p>
            <a:pPr algn="r" rtl="1"/>
            <a:r>
              <a:rPr lang="fa-IR" dirty="0" smtClean="0">
                <a:solidFill>
                  <a:schemeClr val="tx1"/>
                </a:solidFill>
              </a:rPr>
              <a:t>1انتی هستامینیک ها</a:t>
            </a:r>
            <a:r>
              <a:rPr lang="en-US" dirty="0" smtClean="0">
                <a:solidFill>
                  <a:schemeClr val="tx1"/>
                </a:solidFill>
              </a:rPr>
              <a:t>(</a:t>
            </a:r>
            <a:r>
              <a:rPr lang="en-US" dirty="0" err="1" smtClean="0">
                <a:solidFill>
                  <a:schemeClr val="tx1"/>
                </a:solidFill>
              </a:rPr>
              <a:t>Diphenhydramin</a:t>
            </a:r>
            <a:r>
              <a:rPr lang="en-US" dirty="0" smtClean="0">
                <a:solidFill>
                  <a:schemeClr val="tx1"/>
                </a:solidFill>
              </a:rPr>
              <a:t>)</a:t>
            </a:r>
          </a:p>
          <a:p>
            <a:pPr algn="r" rtl="1"/>
            <a:r>
              <a:rPr lang="en-US" dirty="0" smtClean="0">
                <a:solidFill>
                  <a:schemeClr val="tx1"/>
                </a:solidFill>
              </a:rPr>
              <a:t>2</a:t>
            </a:r>
            <a:r>
              <a:rPr lang="fa-IR" dirty="0" smtClean="0">
                <a:solidFill>
                  <a:schemeClr val="tx1"/>
                </a:solidFill>
              </a:rPr>
              <a:t>:</a:t>
            </a:r>
            <a:r>
              <a:rPr lang="en-US" dirty="0" smtClean="0">
                <a:solidFill>
                  <a:schemeClr val="tx1"/>
                </a:solidFill>
              </a:rPr>
              <a:t>(</a:t>
            </a:r>
            <a:r>
              <a:rPr lang="en-US" dirty="0" err="1" smtClean="0">
                <a:solidFill>
                  <a:schemeClr val="tx1"/>
                </a:solidFill>
              </a:rPr>
              <a:t>Benzodiazipine</a:t>
            </a:r>
            <a:r>
              <a:rPr lang="en-US" dirty="0" smtClean="0">
                <a:solidFill>
                  <a:schemeClr val="tx1"/>
                </a:solidFill>
              </a:rPr>
              <a:t> and other </a:t>
            </a:r>
            <a:r>
              <a:rPr lang="en-US" dirty="0" err="1" smtClean="0">
                <a:solidFill>
                  <a:schemeClr val="tx1"/>
                </a:solidFill>
              </a:rPr>
              <a:t>hepnotic</a:t>
            </a:r>
            <a:r>
              <a:rPr lang="en-US" dirty="0" smtClean="0">
                <a:solidFill>
                  <a:schemeClr val="tx1"/>
                </a:solidFill>
              </a:rPr>
              <a:t> sedative</a:t>
            </a:r>
          </a:p>
          <a:p>
            <a:pPr algn="r" rtl="1"/>
            <a:r>
              <a:rPr lang="en-US" dirty="0" smtClean="0">
                <a:solidFill>
                  <a:schemeClr val="tx1"/>
                </a:solidFill>
              </a:rPr>
              <a:t>:3</a:t>
            </a:r>
            <a:r>
              <a:rPr lang="fa-IR" dirty="0" smtClean="0">
                <a:solidFill>
                  <a:schemeClr val="tx1"/>
                </a:solidFill>
              </a:rPr>
              <a:t>الکول ,اوپیات ها ادویه</a:t>
            </a:r>
            <a:r>
              <a:rPr lang="en-US" dirty="0" smtClean="0">
                <a:solidFill>
                  <a:schemeClr val="tx1"/>
                </a:solidFill>
              </a:rPr>
              <a:t>anti psychotic</a:t>
            </a:r>
            <a:r>
              <a:rPr lang="fa-IR" dirty="0" smtClean="0">
                <a:solidFill>
                  <a:schemeClr val="tx1"/>
                </a:solidFill>
              </a:rPr>
              <a:t> ها</a:t>
            </a:r>
          </a:p>
          <a:p>
            <a:pPr algn="r" rtl="1"/>
            <a:r>
              <a:rPr lang="fa-IR" dirty="0" smtClean="0">
                <a:solidFill>
                  <a:schemeClr val="tx1"/>
                </a:solidFill>
              </a:rPr>
              <a:t>4:</a:t>
            </a:r>
            <a:r>
              <a:rPr lang="en-US" dirty="0" smtClean="0">
                <a:solidFill>
                  <a:schemeClr val="tx1"/>
                </a:solidFill>
              </a:rPr>
              <a:t>anti </a:t>
            </a:r>
            <a:r>
              <a:rPr lang="en-US" dirty="0" err="1" smtClean="0">
                <a:solidFill>
                  <a:schemeClr val="tx1"/>
                </a:solidFill>
              </a:rPr>
              <a:t>depresant</a:t>
            </a:r>
            <a:endParaRPr lang="en-US" dirty="0" smtClean="0">
              <a:solidFill>
                <a:schemeClr val="tx1"/>
              </a:solidFill>
            </a:endParaRPr>
          </a:p>
          <a:p>
            <a:pPr algn="r" rtl="1"/>
            <a:endParaRPr lang="en-US" dirty="0">
              <a:solidFill>
                <a:schemeClr val="tx1"/>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1" y="228601"/>
            <a:ext cx="2438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298" y="914400"/>
            <a:ext cx="43434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91221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457200"/>
            <a:ext cx="7772400" cy="1470025"/>
          </a:xfrm>
        </p:spPr>
        <p:txBody>
          <a:bodyPr/>
          <a:lstStyle/>
          <a:p>
            <a:pPr algn="r"/>
            <a:r>
              <a:rPr lang="fa-IR" dirty="0" smtClean="0"/>
              <a:t>مهمترین علت مرگ نزدمریضان کوما </a:t>
            </a:r>
            <a:endParaRPr lang="en-US" dirty="0"/>
          </a:p>
        </p:txBody>
      </p:sp>
      <p:sp>
        <p:nvSpPr>
          <p:cNvPr id="3" name="Subtitle 2"/>
          <p:cNvSpPr>
            <a:spLocks noGrp="1"/>
          </p:cNvSpPr>
          <p:nvPr>
            <p:ph type="subTitle" idx="1"/>
          </p:nvPr>
        </p:nvSpPr>
        <p:spPr>
          <a:xfrm>
            <a:off x="990600" y="1600200"/>
            <a:ext cx="7620000" cy="4572000"/>
          </a:xfrm>
        </p:spPr>
        <p:txBody>
          <a:bodyPr/>
          <a:lstStyle/>
          <a:p>
            <a:pPr algn="r"/>
            <a:r>
              <a:rPr lang="fa-IR" dirty="0" smtClean="0">
                <a:solidFill>
                  <a:schemeClr val="tx1"/>
                </a:solidFill>
              </a:rPr>
              <a:t>1:عدم کفایه حاد تنفسی</a:t>
            </a:r>
          </a:p>
          <a:p>
            <a:pPr algn="r" rtl="1"/>
            <a:r>
              <a:rPr lang="fa-IR" dirty="0" smtClean="0">
                <a:solidFill>
                  <a:schemeClr val="tx1"/>
                </a:solidFill>
              </a:rPr>
              <a:t>2:اسپریشن ریوی محتوی معده مخصوصا نزد مریضانیکه ضیاع شدیدشعورویاهم اختلاج دارند</a:t>
            </a:r>
          </a:p>
          <a:p>
            <a:pPr algn="r" rtl="1"/>
            <a:r>
              <a:rPr lang="fa-IR" dirty="0" smtClean="0">
                <a:solidFill>
                  <a:schemeClr val="tx1"/>
                </a:solidFill>
              </a:rPr>
              <a:t>3:</a:t>
            </a:r>
          </a:p>
          <a:p>
            <a:pPr algn="r" rtl="1"/>
            <a:r>
              <a:rPr lang="fa-IR" dirty="0" smtClean="0">
                <a:solidFill>
                  <a:schemeClr val="tx1"/>
                </a:solidFill>
              </a:rPr>
              <a:t>4:اریتمی های قلبی واختلاجات</a:t>
            </a:r>
            <a:endParaRPr lang="en-US" dirty="0">
              <a:solidFill>
                <a:schemeClr val="tx1"/>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931" y="3276600"/>
            <a:ext cx="6858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31073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470025"/>
          </a:xfrm>
        </p:spPr>
        <p:txBody>
          <a:bodyPr/>
          <a:lstStyle/>
          <a:p>
            <a:endParaRPr lang="en-US" dirty="0"/>
          </a:p>
        </p:txBody>
      </p:sp>
      <p:sp>
        <p:nvSpPr>
          <p:cNvPr id="3" name="Subtitle 2"/>
          <p:cNvSpPr>
            <a:spLocks noGrp="1"/>
          </p:cNvSpPr>
          <p:nvPr>
            <p:ph type="subTitle" idx="1"/>
          </p:nvPr>
        </p:nvSpPr>
        <p:spPr>
          <a:xfrm>
            <a:off x="533400" y="2057400"/>
            <a:ext cx="8077200" cy="4038600"/>
          </a:xfrm>
        </p:spPr>
        <p:txBody>
          <a:bodyPr/>
          <a:lstStyle/>
          <a:p>
            <a:pPr algn="r" rtl="1"/>
            <a:r>
              <a:rPr lang="fa-IR" dirty="0" smtClean="0">
                <a:solidFill>
                  <a:schemeClr val="tx1"/>
                </a:solidFill>
              </a:rPr>
              <a:t>تداوی اساسی مریضان کوما به اساس </a:t>
            </a:r>
            <a:r>
              <a:rPr lang="en-US" dirty="0" smtClean="0">
                <a:solidFill>
                  <a:schemeClr val="tx1"/>
                </a:solidFill>
              </a:rPr>
              <a:t>ABCD</a:t>
            </a:r>
            <a:r>
              <a:rPr lang="fa-IR" dirty="0" smtClean="0">
                <a:solidFill>
                  <a:schemeClr val="tx1"/>
                </a:solidFill>
              </a:rPr>
              <a:t>گذاشته میشود.</a:t>
            </a:r>
          </a:p>
          <a:p>
            <a:pPr algn="r" rtl="1"/>
            <a:r>
              <a:rPr lang="en-US" dirty="0" smtClean="0">
                <a:solidFill>
                  <a:schemeClr val="tx1"/>
                </a:solidFill>
              </a:rPr>
              <a:t>Airway=A</a:t>
            </a:r>
          </a:p>
          <a:p>
            <a:pPr algn="r" rtl="1"/>
            <a:r>
              <a:rPr lang="en-US" dirty="0" smtClean="0">
                <a:solidFill>
                  <a:schemeClr val="tx1"/>
                </a:solidFill>
              </a:rPr>
              <a:t>Breathing=B</a:t>
            </a:r>
          </a:p>
          <a:p>
            <a:pPr algn="r" rtl="1"/>
            <a:r>
              <a:rPr lang="en-US" dirty="0" smtClean="0">
                <a:solidFill>
                  <a:schemeClr val="tx1"/>
                </a:solidFill>
              </a:rPr>
              <a:t>Circulation=C</a:t>
            </a:r>
          </a:p>
          <a:p>
            <a:pPr algn="r" rtl="1"/>
            <a:r>
              <a:rPr lang="en-US" dirty="0" smtClean="0">
                <a:solidFill>
                  <a:schemeClr val="tx1"/>
                </a:solidFill>
              </a:rPr>
              <a:t>Drug=D</a:t>
            </a:r>
            <a:endParaRPr lang="en-US" dirty="0">
              <a:solidFill>
                <a:schemeClr val="tx1"/>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914400"/>
            <a:ext cx="4343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08293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1470025"/>
          </a:xfrm>
        </p:spPr>
        <p:txBody>
          <a:bodyPr/>
          <a:lstStyle/>
          <a:p>
            <a:r>
              <a:rPr lang="en-US" dirty="0" smtClean="0"/>
              <a:t>Airway</a:t>
            </a:r>
            <a:endParaRPr lang="en-US" dirty="0"/>
          </a:p>
        </p:txBody>
      </p:sp>
      <p:sp>
        <p:nvSpPr>
          <p:cNvPr id="3" name="Subtitle 2"/>
          <p:cNvSpPr>
            <a:spLocks noGrp="1"/>
          </p:cNvSpPr>
          <p:nvPr>
            <p:ph type="subTitle" idx="1"/>
          </p:nvPr>
        </p:nvSpPr>
        <p:spPr>
          <a:xfrm>
            <a:off x="838200" y="1295400"/>
            <a:ext cx="7467600" cy="4953000"/>
          </a:xfrm>
        </p:spPr>
        <p:txBody>
          <a:bodyPr/>
          <a:lstStyle/>
          <a:p>
            <a:pPr algn="r" rtl="1"/>
            <a:r>
              <a:rPr lang="fa-IR" dirty="0" smtClean="0">
                <a:solidFill>
                  <a:schemeClr val="tx1"/>
                </a:solidFill>
              </a:rPr>
              <a:t>1:تطبیق </a:t>
            </a:r>
            <a:r>
              <a:rPr lang="en-US" dirty="0" smtClean="0">
                <a:solidFill>
                  <a:schemeClr val="tx1"/>
                </a:solidFill>
              </a:rPr>
              <a:t>airway</a:t>
            </a:r>
            <a:r>
              <a:rPr lang="fa-IR" dirty="0" smtClean="0">
                <a:solidFill>
                  <a:schemeClr val="tx1"/>
                </a:solidFill>
              </a:rPr>
              <a:t>بالای زبان ووضعیت دادن مریض به یک طرف غرض اجرای سکشن.</a:t>
            </a:r>
          </a:p>
          <a:p>
            <a:pPr algn="r" rtl="1"/>
            <a:r>
              <a:rPr lang="fa-IR" dirty="0" smtClean="0">
                <a:solidFill>
                  <a:schemeClr val="tx1"/>
                </a:solidFill>
              </a:rPr>
              <a:t>2:تطبیق </a:t>
            </a:r>
            <a:r>
              <a:rPr lang="en-US" dirty="0" err="1" smtClean="0">
                <a:solidFill>
                  <a:schemeClr val="tx1"/>
                </a:solidFill>
              </a:rPr>
              <a:t>Nasopharynx</a:t>
            </a:r>
            <a:r>
              <a:rPr lang="en-US" dirty="0" smtClean="0">
                <a:solidFill>
                  <a:schemeClr val="tx1"/>
                </a:solidFill>
              </a:rPr>
              <a:t> and Oropharynx airway</a:t>
            </a:r>
          </a:p>
          <a:p>
            <a:pPr algn="r" rtl="1"/>
            <a:r>
              <a:rPr lang="en-US" dirty="0" smtClean="0">
                <a:solidFill>
                  <a:schemeClr val="tx1"/>
                </a:solidFill>
              </a:rPr>
              <a:t>:3</a:t>
            </a:r>
            <a:r>
              <a:rPr lang="fa-IR" dirty="0" smtClean="0">
                <a:solidFill>
                  <a:schemeClr val="tx1"/>
                </a:solidFill>
              </a:rPr>
              <a:t>تطبیق </a:t>
            </a:r>
            <a:r>
              <a:rPr lang="en-US" dirty="0" err="1" smtClean="0">
                <a:solidFill>
                  <a:schemeClr val="tx1"/>
                </a:solidFill>
              </a:rPr>
              <a:t>Endotrachial</a:t>
            </a:r>
            <a:r>
              <a:rPr lang="en-US" dirty="0" smtClean="0">
                <a:solidFill>
                  <a:schemeClr val="tx1"/>
                </a:solidFill>
              </a:rPr>
              <a:t> tube</a:t>
            </a:r>
            <a:r>
              <a:rPr lang="fa-IR" dirty="0" smtClean="0">
                <a:solidFill>
                  <a:schemeClr val="tx1"/>
                </a:solidFill>
              </a:rPr>
              <a:t>ولی درنزدمریضانیکه تسمم اوپیات ویاهم</a:t>
            </a:r>
            <a:r>
              <a:rPr lang="en-US" dirty="0" err="1" smtClean="0">
                <a:solidFill>
                  <a:schemeClr val="tx1"/>
                </a:solidFill>
              </a:rPr>
              <a:t>Benzodizepine</a:t>
            </a:r>
            <a:r>
              <a:rPr lang="fa-IR" dirty="0" smtClean="0">
                <a:solidFill>
                  <a:schemeClr val="tx1"/>
                </a:solidFill>
              </a:rPr>
              <a:t>دارند تطبیق این تیوب ضروری نمی باشد زیرااین مریضان با تطبیق انتی دوت بالخاصه جواب عاجل میدهند.</a:t>
            </a:r>
            <a:endParaRPr lang="en-US" dirty="0" smtClean="0">
              <a:solidFill>
                <a:schemeClr val="tx1"/>
              </a:solidFill>
            </a:endParaRPr>
          </a:p>
          <a:p>
            <a:pPr algn="r" rtl="1"/>
            <a:endParaRPr lang="en-US" dirty="0"/>
          </a:p>
        </p:txBody>
      </p:sp>
    </p:spTree>
    <p:extLst>
      <p:ext uri="{BB962C8B-B14F-4D97-AF65-F5344CB8AC3E}">
        <p14:creationId xmlns:p14="http://schemas.microsoft.com/office/powerpoint/2010/main" val="25559047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2400"/>
            <a:ext cx="7772400" cy="1470025"/>
          </a:xfrm>
        </p:spPr>
        <p:txBody>
          <a:bodyPr/>
          <a:lstStyle/>
          <a:p>
            <a:r>
              <a:rPr lang="en-US" dirty="0" smtClean="0"/>
              <a:t>Breathing</a:t>
            </a:r>
            <a:endParaRPr lang="en-US" dirty="0"/>
          </a:p>
        </p:txBody>
      </p:sp>
      <p:sp>
        <p:nvSpPr>
          <p:cNvPr id="3" name="Subtitle 2"/>
          <p:cNvSpPr>
            <a:spLocks noGrp="1"/>
          </p:cNvSpPr>
          <p:nvPr>
            <p:ph type="subTitle" idx="1"/>
          </p:nvPr>
        </p:nvSpPr>
        <p:spPr>
          <a:xfrm>
            <a:off x="762000" y="1295400"/>
            <a:ext cx="7620000" cy="4953000"/>
          </a:xfrm>
        </p:spPr>
        <p:txBody>
          <a:bodyPr>
            <a:normAutofit fontScale="85000" lnSpcReduction="10000"/>
          </a:bodyPr>
          <a:lstStyle/>
          <a:p>
            <a:pPr algn="r" rtl="1"/>
            <a:r>
              <a:rPr lang="fa-IR" dirty="0" smtClean="0">
                <a:solidFill>
                  <a:schemeClr val="tx1"/>
                </a:solidFill>
              </a:rPr>
              <a:t>1:ازنظر کلینیکی نوعیت وعمق تنفس مریض باید ارزیابی ودرصورت ضرورت تتفس مریض توسط ماسک ,</a:t>
            </a:r>
            <a:r>
              <a:rPr lang="en-US" dirty="0" smtClean="0">
                <a:solidFill>
                  <a:schemeClr val="tx1"/>
                </a:solidFill>
              </a:rPr>
              <a:t>Bag</a:t>
            </a:r>
            <a:r>
              <a:rPr lang="fa-IR" dirty="0" smtClean="0">
                <a:solidFill>
                  <a:schemeClr val="tx1"/>
                </a:solidFill>
              </a:rPr>
              <a:t>کمک شود وبرای مریض اوکسیجن تطبیق گردد</a:t>
            </a:r>
          </a:p>
          <a:p>
            <a:pPr algn="r" rtl="1"/>
            <a:r>
              <a:rPr lang="fa-IR" dirty="0" smtClean="0">
                <a:solidFill>
                  <a:schemeClr val="tx1"/>
                </a:solidFill>
              </a:rPr>
              <a:t>2:تطبیق تهویه میخانیکی توسط ماشین</a:t>
            </a:r>
          </a:p>
          <a:p>
            <a:pPr algn="r" rtl="1"/>
            <a:r>
              <a:rPr lang="fa-IR" dirty="0" smtClean="0">
                <a:solidFill>
                  <a:schemeClr val="tx1"/>
                </a:solidFill>
              </a:rPr>
              <a:t>3:اندازه نمودن خون شریانی ووریدی کاربن دای اوکساید</a:t>
            </a:r>
          </a:p>
          <a:p>
            <a:pPr algn="r" rtl="1"/>
            <a:r>
              <a:rPr lang="fa-IR" dirty="0" smtClean="0">
                <a:solidFill>
                  <a:schemeClr val="tx1"/>
                </a:solidFill>
              </a:rPr>
              <a:t>4:اندازه نمودن آکسیجن خون شریانی غرض تثبیت هایپوکسیمی که میتواند ازسبب </a:t>
            </a:r>
            <a:r>
              <a:rPr lang="en-US" dirty="0" err="1" smtClean="0">
                <a:solidFill>
                  <a:schemeClr val="tx1"/>
                </a:solidFill>
              </a:rPr>
              <a:t>Depresion</a:t>
            </a:r>
            <a:r>
              <a:rPr lang="fa-IR" dirty="0" smtClean="0">
                <a:solidFill>
                  <a:schemeClr val="tx1"/>
                </a:solidFill>
              </a:rPr>
              <a:t>سیستم تنفسی</a:t>
            </a:r>
            <a:r>
              <a:rPr lang="en-US" dirty="0" smtClean="0">
                <a:solidFill>
                  <a:schemeClr val="tx1"/>
                </a:solidFill>
              </a:rPr>
              <a:t> </a:t>
            </a:r>
            <a:r>
              <a:rPr lang="fa-IR" dirty="0" smtClean="0">
                <a:solidFill>
                  <a:schemeClr val="tx1"/>
                </a:solidFill>
              </a:rPr>
              <a:t> </a:t>
            </a:r>
          </a:p>
          <a:p>
            <a:pPr algn="r" rtl="1"/>
            <a:r>
              <a:rPr lang="en-US" dirty="0" smtClean="0">
                <a:solidFill>
                  <a:schemeClr val="tx1"/>
                </a:solidFill>
              </a:rPr>
              <a:t> </a:t>
            </a:r>
            <a:r>
              <a:rPr lang="en-US" dirty="0" err="1" smtClean="0">
                <a:solidFill>
                  <a:schemeClr val="tx1"/>
                </a:solidFill>
              </a:rPr>
              <a:t>Bronchospasm,pulmonary</a:t>
            </a:r>
            <a:r>
              <a:rPr lang="en-US" dirty="0" smtClean="0">
                <a:solidFill>
                  <a:schemeClr val="tx1"/>
                </a:solidFill>
              </a:rPr>
              <a:t> aspiration</a:t>
            </a:r>
            <a:r>
              <a:rPr lang="fa-IR" dirty="0" smtClean="0">
                <a:solidFill>
                  <a:schemeClr val="tx1"/>
                </a:solidFill>
              </a:rPr>
              <a:t>واذیمای ریه غیرقلبی بوجود میآید</a:t>
            </a:r>
          </a:p>
          <a:p>
            <a:pPr algn="r" rtl="1"/>
            <a:r>
              <a:rPr lang="fa-IR" dirty="0" smtClean="0">
                <a:solidFill>
                  <a:schemeClr val="tx1"/>
                </a:solidFill>
              </a:rPr>
              <a:t>5:معاینه </a:t>
            </a:r>
            <a:r>
              <a:rPr lang="en-US" dirty="0" err="1" smtClean="0">
                <a:solidFill>
                  <a:schemeClr val="tx1"/>
                </a:solidFill>
              </a:rPr>
              <a:t>Puls</a:t>
            </a:r>
            <a:r>
              <a:rPr lang="en-US" dirty="0" smtClean="0">
                <a:solidFill>
                  <a:schemeClr val="tx1"/>
                </a:solidFill>
              </a:rPr>
              <a:t> </a:t>
            </a:r>
            <a:r>
              <a:rPr lang="en-US" dirty="0" err="1" smtClean="0">
                <a:solidFill>
                  <a:schemeClr val="tx1"/>
                </a:solidFill>
              </a:rPr>
              <a:t>oxymethry</a:t>
            </a:r>
            <a:r>
              <a:rPr lang="fa-IR" dirty="0" smtClean="0">
                <a:solidFill>
                  <a:schemeClr val="tx1"/>
                </a:solidFill>
              </a:rPr>
              <a:t>معاینه قابل اعتبار نمی باشد زیرا درصورتیکه مریض</a:t>
            </a:r>
            <a:r>
              <a:rPr lang="en-US" dirty="0" smtClean="0">
                <a:solidFill>
                  <a:schemeClr val="tx1"/>
                </a:solidFill>
              </a:rPr>
              <a:t>Meth </a:t>
            </a:r>
            <a:r>
              <a:rPr lang="en-US" dirty="0" err="1" smtClean="0">
                <a:solidFill>
                  <a:schemeClr val="tx1"/>
                </a:solidFill>
              </a:rPr>
              <a:t>hemoglubulemia</a:t>
            </a:r>
            <a:r>
              <a:rPr lang="fa-IR" dirty="0" smtClean="0">
                <a:solidFill>
                  <a:schemeClr val="tx1"/>
                </a:solidFill>
              </a:rPr>
              <a:t>داشته باشداین معاینه سویه آکسجن هردونوع هیموگلوبین راتعین میکند.</a:t>
            </a:r>
          </a:p>
          <a:p>
            <a:pPr algn="r" rtl="1"/>
            <a:endParaRPr lang="en-US" dirty="0"/>
          </a:p>
        </p:txBody>
      </p:sp>
    </p:spTree>
    <p:extLst>
      <p:ext uri="{BB962C8B-B14F-4D97-AF65-F5344CB8AC3E}">
        <p14:creationId xmlns:p14="http://schemas.microsoft.com/office/powerpoint/2010/main" val="10419573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endParaRPr lang="en-US" dirty="0"/>
          </a:p>
        </p:txBody>
      </p:sp>
      <p:sp>
        <p:nvSpPr>
          <p:cNvPr id="3" name="Subtitle 2"/>
          <p:cNvSpPr>
            <a:spLocks noGrp="1"/>
          </p:cNvSpPr>
          <p:nvPr>
            <p:ph type="subTitle" idx="1"/>
          </p:nvPr>
        </p:nvSpPr>
        <p:spPr>
          <a:xfrm>
            <a:off x="685800" y="1447800"/>
            <a:ext cx="7772400" cy="5257800"/>
          </a:xfrm>
        </p:spPr>
        <p:txBody>
          <a:bodyPr/>
          <a:lstStyle/>
          <a:p>
            <a:pPr algn="r"/>
            <a:r>
              <a:rPr lang="fa-IR" dirty="0" smtClean="0">
                <a:solidFill>
                  <a:schemeClr val="tx1"/>
                </a:solidFill>
              </a:rPr>
              <a:t>1:تعین نبض وفشارخون</a:t>
            </a:r>
          </a:p>
          <a:p>
            <a:pPr algn="r" rtl="1"/>
            <a:r>
              <a:rPr lang="fa-IR" dirty="0" smtClean="0">
                <a:solidFill>
                  <a:schemeClr val="tx1"/>
                </a:solidFill>
              </a:rPr>
              <a:t>2:اندازه نمودن             با اندازه نمودن دهانه کلیوی وتغیرات جلدی واندازه نمودن</a:t>
            </a:r>
            <a:r>
              <a:rPr lang="en-US" dirty="0" smtClean="0">
                <a:solidFill>
                  <a:schemeClr val="tx1"/>
                </a:solidFill>
              </a:rPr>
              <a:t>PH</a:t>
            </a:r>
            <a:r>
              <a:rPr lang="fa-IR" dirty="0" smtClean="0">
                <a:solidFill>
                  <a:schemeClr val="tx1"/>
                </a:solidFill>
              </a:rPr>
              <a:t>خون</a:t>
            </a:r>
          </a:p>
          <a:p>
            <a:pPr algn="r" rtl="1"/>
            <a:r>
              <a:rPr lang="fa-IR" dirty="0" smtClean="0">
                <a:solidFill>
                  <a:schemeClr val="tx1"/>
                </a:solidFill>
              </a:rPr>
              <a:t>3:اخذ گراف برقی قلب بصورت دوامدار</a:t>
            </a:r>
          </a:p>
          <a:p>
            <a:pPr algn="r" rtl="1"/>
            <a:r>
              <a:rPr lang="fa-IR" dirty="0" smtClean="0">
                <a:solidFill>
                  <a:schemeClr val="tx1"/>
                </a:solidFill>
              </a:rPr>
              <a:t>4:بازنمودن وریدمریض غرض تطبیق مایعات ومعاینات لابراتواری ازقبیل نعین سویه شکرخون,الکترولیت ها تعین سویه کریاتینین خون وبالاخرتعین وظایف کبدی.</a:t>
            </a:r>
          </a:p>
          <a:p>
            <a:pPr algn="r" rtl="1"/>
            <a:r>
              <a:rPr lang="fa-IR" dirty="0" smtClean="0">
                <a:solidFill>
                  <a:schemeClr val="tx1"/>
                </a:solidFill>
              </a:rPr>
              <a:t>5:تکمیل نمودن معاینات </a:t>
            </a:r>
            <a:r>
              <a:rPr lang="en-US" dirty="0" err="1" smtClean="0">
                <a:solidFill>
                  <a:schemeClr val="tx1"/>
                </a:solidFill>
              </a:rPr>
              <a:t>Toxicologic</a:t>
            </a:r>
            <a:endParaRPr lang="fa-IR" dirty="0" smtClean="0">
              <a:solidFill>
                <a:schemeClr val="tx1"/>
              </a:solidFill>
            </a:endParaRPr>
          </a:p>
          <a:p>
            <a:pPr algn="r" rtl="1"/>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57200"/>
            <a:ext cx="4191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1303" y="2240280"/>
            <a:ext cx="1400175" cy="457200"/>
          </a:xfrm>
          <a:prstGeom prst="rect">
            <a:avLst/>
          </a:prstGeom>
          <a:solidFill>
            <a:srgbClr val="FFFF00"/>
          </a:solidFill>
          <a:ln>
            <a:noFill/>
          </a:ln>
          <a:effectLst/>
          <a:extLst/>
        </p:spPr>
      </p:pic>
    </p:spTree>
    <p:extLst>
      <p:ext uri="{BB962C8B-B14F-4D97-AF65-F5344CB8AC3E}">
        <p14:creationId xmlns:p14="http://schemas.microsoft.com/office/powerpoint/2010/main" val="33872025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4Drug</a:t>
            </a:r>
            <a:endParaRPr lang="en-US" dirty="0"/>
          </a:p>
        </p:txBody>
      </p:sp>
      <p:sp>
        <p:nvSpPr>
          <p:cNvPr id="3" name="Content Placeholder 2"/>
          <p:cNvSpPr>
            <a:spLocks noGrp="1"/>
          </p:cNvSpPr>
          <p:nvPr>
            <p:ph idx="1"/>
          </p:nvPr>
        </p:nvSpPr>
        <p:spPr/>
        <p:txBody>
          <a:bodyPr/>
          <a:lstStyle/>
          <a:p>
            <a:pPr marL="0" indent="0" algn="r">
              <a:buNone/>
            </a:pPr>
            <a:r>
              <a:rPr lang="fa-IR" dirty="0" smtClean="0"/>
              <a:t> </a:t>
            </a:r>
            <a:r>
              <a:rPr lang="en-US" dirty="0" smtClean="0"/>
              <a:t>50-100CC</a:t>
            </a:r>
            <a:r>
              <a:rPr lang="fa-IR" dirty="0" smtClean="0"/>
              <a:t>به مقدار</a:t>
            </a:r>
            <a:r>
              <a:rPr lang="en-US" dirty="0" smtClean="0"/>
              <a:t>Glucose50%:1</a:t>
            </a:r>
            <a:endParaRPr lang="fa-IR" dirty="0" smtClean="0"/>
          </a:p>
          <a:p>
            <a:pPr marL="0" indent="0" algn="r" rtl="1">
              <a:buNone/>
            </a:pPr>
            <a:r>
              <a:rPr lang="fa-IR" dirty="0" smtClean="0"/>
              <a:t>2:تطبیق ویتامین</a:t>
            </a:r>
            <a:r>
              <a:rPr lang="en-US" dirty="0" smtClean="0"/>
              <a:t>B1</a:t>
            </a:r>
            <a:r>
              <a:rPr lang="fa-IR" dirty="0" smtClean="0"/>
              <a:t> درنزدمریضان الکولیک وسوءتغذی به مقدار100ملی گرام زرق عضلی ویادربین سیروم</a:t>
            </a:r>
          </a:p>
          <a:p>
            <a:pPr marL="0" indent="0" algn="r" rtl="1">
              <a:buNone/>
            </a:pPr>
            <a:r>
              <a:rPr lang="fa-IR" dirty="0" smtClean="0"/>
              <a:t>4:تطبق انتاگونیست اوپیات </a:t>
            </a:r>
            <a:r>
              <a:rPr lang="en-US" dirty="0" err="1" smtClean="0"/>
              <a:t>Naloxan</a:t>
            </a:r>
            <a:r>
              <a:rPr lang="fa-IR" dirty="0" smtClean="0"/>
              <a:t>به مقدار</a:t>
            </a:r>
            <a:r>
              <a:rPr lang="en-US" dirty="0" smtClean="0"/>
              <a:t>0,4-2mg</a:t>
            </a:r>
            <a:r>
              <a:rPr lang="fa-IR" dirty="0" smtClean="0"/>
              <a:t>از طریق وریدی الی 5-10ملی گرام</a:t>
            </a:r>
          </a:p>
          <a:p>
            <a:pPr marL="0" indent="0" algn="r" rtl="1">
              <a:buNone/>
            </a:pPr>
            <a:r>
              <a:rPr lang="fa-IR" dirty="0" smtClean="0"/>
              <a:t>5:تطبیق انتاگونیست </a:t>
            </a:r>
            <a:r>
              <a:rPr lang="en-US" dirty="0" err="1" smtClean="0"/>
              <a:t>Benzodiazopine</a:t>
            </a:r>
            <a:r>
              <a:rPr lang="fa-IR" dirty="0" smtClean="0"/>
              <a:t> مثلا</a:t>
            </a:r>
            <a:r>
              <a:rPr lang="en-US" dirty="0" err="1" smtClean="0"/>
              <a:t>Flumazinil</a:t>
            </a:r>
            <a:r>
              <a:rPr lang="fa-IR" dirty="0" smtClean="0"/>
              <a:t> به مقدار</a:t>
            </a:r>
            <a:r>
              <a:rPr lang="en-US" dirty="0" smtClean="0"/>
              <a:t>0,3-0,5mg</a:t>
            </a:r>
            <a:r>
              <a:rPr lang="fa-IR" dirty="0" smtClean="0"/>
              <a:t> الی دوزمجموعی</a:t>
            </a:r>
            <a:r>
              <a:rPr lang="en-US" dirty="0" smtClean="0"/>
              <a:t>3mg</a:t>
            </a:r>
            <a:endParaRPr lang="fa-IR" dirty="0" smtClean="0"/>
          </a:p>
        </p:txBody>
      </p:sp>
    </p:spTree>
    <p:extLst>
      <p:ext uri="{BB962C8B-B14F-4D97-AF65-F5344CB8AC3E}">
        <p14:creationId xmlns:p14="http://schemas.microsoft.com/office/powerpoint/2010/main" val="17343600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Hypothermia</a:t>
            </a:r>
            <a:br>
              <a:rPr lang="en-US" dirty="0" smtClean="0"/>
            </a:br>
            <a:r>
              <a:rPr lang="en-US" dirty="0" smtClean="0"/>
              <a:t>Assessment and complication</a:t>
            </a:r>
            <a:endParaRPr lang="en-US" dirty="0"/>
          </a:p>
        </p:txBody>
      </p:sp>
      <p:sp>
        <p:nvSpPr>
          <p:cNvPr id="3" name="Content Placeholder 2"/>
          <p:cNvSpPr>
            <a:spLocks noGrp="1"/>
          </p:cNvSpPr>
          <p:nvPr>
            <p:ph idx="1"/>
          </p:nvPr>
        </p:nvSpPr>
        <p:spPr/>
        <p:txBody>
          <a:bodyPr>
            <a:normAutofit fontScale="92500" lnSpcReduction="20000"/>
          </a:bodyPr>
          <a:lstStyle/>
          <a:p>
            <a:pPr algn="r"/>
            <a:endParaRPr lang="fa-IR" dirty="0" smtClean="0"/>
          </a:p>
          <a:p>
            <a:pPr marL="0" indent="0" algn="r" rtl="1">
              <a:buNone/>
            </a:pPr>
            <a:r>
              <a:rPr lang="fa-IR" dirty="0" smtClean="0"/>
              <a:t>اکثرابا کوما یکجا میباشد ودواهایکه سبب</a:t>
            </a:r>
            <a:r>
              <a:rPr lang="en-US" dirty="0" smtClean="0"/>
              <a:t>Hypothermia</a:t>
            </a:r>
            <a:r>
              <a:rPr lang="fa-IR" dirty="0" smtClean="0"/>
              <a:t> میشود شامل:</a:t>
            </a:r>
          </a:p>
          <a:p>
            <a:pPr marL="0" indent="0" algn="r" rtl="1">
              <a:buNone/>
            </a:pPr>
            <a:r>
              <a:rPr lang="fa-IR" dirty="0" smtClean="0"/>
              <a:t>1:اوپیات ها ,الکول دواهای پائین آورنده شکرخون</a:t>
            </a:r>
            <a:r>
              <a:rPr lang="en-US" dirty="0" smtClean="0"/>
              <a:t>  </a:t>
            </a:r>
            <a:r>
              <a:rPr lang="en-US" dirty="0" err="1" smtClean="0"/>
              <a:t>Phenothiazin</a:t>
            </a:r>
            <a:r>
              <a:rPr lang="fa-IR" dirty="0" smtClean="0"/>
              <a:t>,</a:t>
            </a:r>
            <a:r>
              <a:rPr lang="en-US" dirty="0" err="1" smtClean="0"/>
              <a:t>Barbitorates</a:t>
            </a:r>
            <a:r>
              <a:rPr lang="fa-IR" dirty="0" smtClean="0"/>
              <a:t>و</a:t>
            </a:r>
            <a:r>
              <a:rPr lang="en-US" dirty="0" err="1" smtClean="0"/>
              <a:t>Benzodizepin</a:t>
            </a:r>
            <a:r>
              <a:rPr lang="fa-IR" dirty="0" smtClean="0"/>
              <a:t>ودیگردوا های خواب آورشامل میباشد</a:t>
            </a:r>
          </a:p>
          <a:p>
            <a:pPr marL="0" indent="0" algn="r" rtl="1">
              <a:buNone/>
            </a:pPr>
            <a:r>
              <a:rPr lang="en-US" dirty="0" smtClean="0"/>
              <a:t>:2</a:t>
            </a:r>
            <a:r>
              <a:rPr lang="fa-IR" dirty="0" smtClean="0"/>
              <a:t>هایپوترمیا اکثرا باتفریط فشارخون همراه میباشد وتا زمانیکه </a:t>
            </a:r>
            <a:r>
              <a:rPr lang="en-US" dirty="0" smtClean="0"/>
              <a:t>Hypothermia</a:t>
            </a:r>
            <a:r>
              <a:rPr lang="fa-IR" dirty="0" smtClean="0"/>
              <a:t>اصلاح نشودفشارمریض بلند نمی رود</a:t>
            </a:r>
          </a:p>
          <a:p>
            <a:pPr marL="0" indent="0" algn="r" rtl="1">
              <a:buNone/>
            </a:pPr>
            <a:r>
              <a:rPr lang="fa-IR" dirty="0" smtClean="0"/>
              <a:t>3:تداوی این مرض گرم نمودن تدریجی بدن میباشد ازگرم نمودن آنی بایدخودداری شود زیرا سبب کولاپس دورانی وتوقف قلبی میشود</a:t>
            </a:r>
          </a:p>
          <a:p>
            <a:pPr marL="0" indent="0" algn="r" rtl="1">
              <a:buNone/>
            </a:pPr>
            <a:endParaRPr lang="en-US" dirty="0"/>
          </a:p>
        </p:txBody>
      </p:sp>
    </p:spTree>
    <p:extLst>
      <p:ext uri="{BB962C8B-B14F-4D97-AF65-F5344CB8AC3E}">
        <p14:creationId xmlns:p14="http://schemas.microsoft.com/office/powerpoint/2010/main" val="34603088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Hypotension</a:t>
            </a:r>
            <a:br>
              <a:rPr lang="en-US" dirty="0" smtClean="0"/>
            </a:br>
            <a:r>
              <a:rPr lang="en-US" dirty="0" smtClean="0"/>
              <a:t>Assessment and complication</a:t>
            </a:r>
            <a:endParaRPr lang="en-US" dirty="0"/>
          </a:p>
        </p:txBody>
      </p:sp>
      <p:sp>
        <p:nvSpPr>
          <p:cNvPr id="3" name="Content Placeholder 2"/>
          <p:cNvSpPr>
            <a:spLocks noGrp="1"/>
          </p:cNvSpPr>
          <p:nvPr>
            <p:ph idx="1"/>
          </p:nvPr>
        </p:nvSpPr>
        <p:spPr/>
        <p:txBody>
          <a:bodyPr>
            <a:normAutofit fontScale="92500" lnSpcReduction="10000"/>
          </a:bodyPr>
          <a:lstStyle/>
          <a:p>
            <a:pPr algn="r"/>
            <a:r>
              <a:rPr lang="fa-IR" dirty="0" smtClean="0"/>
              <a:t>تفریط فشار خون میتواندتوسط یکتعداد دوا ها ازقبیل:</a:t>
            </a:r>
          </a:p>
          <a:p>
            <a:pPr algn="r" rtl="1"/>
            <a:r>
              <a:rPr lang="fa-IR" dirty="0" smtClean="0"/>
              <a:t>ادویه ضدفشارخون مانند</a:t>
            </a:r>
            <a:r>
              <a:rPr lang="en-US" dirty="0" smtClean="0"/>
              <a:t>Calcium </a:t>
            </a:r>
            <a:r>
              <a:rPr lang="en-US" dirty="0" err="1" smtClean="0"/>
              <a:t>chenal</a:t>
            </a:r>
            <a:r>
              <a:rPr lang="en-US" dirty="0" smtClean="0"/>
              <a:t> Blocker</a:t>
            </a:r>
            <a:r>
              <a:rPr lang="fa-IR" dirty="0" smtClean="0"/>
              <a:t>ها و</a:t>
            </a:r>
          </a:p>
          <a:p>
            <a:pPr algn="r" rtl="1"/>
            <a:r>
              <a:rPr lang="en-US" dirty="0" smtClean="0"/>
              <a:t>Beta Blocker</a:t>
            </a:r>
            <a:r>
              <a:rPr lang="fa-IR" dirty="0" smtClean="0"/>
              <a:t>ها</a:t>
            </a:r>
            <a:r>
              <a:rPr lang="en-US" dirty="0" err="1" smtClean="0"/>
              <a:t>Disulfiram</a:t>
            </a:r>
            <a:r>
              <a:rPr lang="fa-IR" dirty="0" smtClean="0"/>
              <a:t>آهن ادویه جات </a:t>
            </a:r>
            <a:r>
              <a:rPr lang="en-US" dirty="0" err="1" smtClean="0"/>
              <a:t>Antipsycotic</a:t>
            </a:r>
            <a:r>
              <a:rPr lang="en-US" dirty="0" smtClean="0"/>
              <a:t> and anti </a:t>
            </a:r>
            <a:r>
              <a:rPr lang="en-US" dirty="0" err="1" smtClean="0"/>
              <a:t>depresant</a:t>
            </a:r>
            <a:r>
              <a:rPr lang="fa-IR" dirty="0" smtClean="0"/>
              <a:t>بوجود آید.</a:t>
            </a:r>
          </a:p>
          <a:p>
            <a:pPr algn="r" rtl="1"/>
            <a:r>
              <a:rPr lang="fa-IR" dirty="0" smtClean="0"/>
              <a:t>سمیات ایکه سبب تفریط فشار خون میشوند شامل:</a:t>
            </a:r>
          </a:p>
          <a:p>
            <a:pPr algn="r" rtl="1"/>
            <a:r>
              <a:rPr lang="fa-IR" dirty="0" smtClean="0"/>
              <a:t>سیاناید ,کاربن مونواکساید,ارسنیک ها المونیم وزینک فاسفیت ها میباشد</a:t>
            </a:r>
          </a:p>
          <a:p>
            <a:pPr algn="r" rtl="1"/>
            <a:r>
              <a:rPr lang="fa-IR" dirty="0" smtClean="0"/>
              <a:t>تفریط فشارخون ازسبب توسع اوعیه شریانی ووریدی ,کم شدن حجم دورانی وتنقیص فعالیت تقلصی قلب بوجود میآید</a:t>
            </a:r>
            <a:endParaRPr lang="en-US" dirty="0"/>
          </a:p>
        </p:txBody>
      </p:sp>
    </p:spTree>
    <p:extLst>
      <p:ext uri="{BB962C8B-B14F-4D97-AF65-F5344CB8AC3E}">
        <p14:creationId xmlns:p14="http://schemas.microsoft.com/office/powerpoint/2010/main" val="17876387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Treatment</a:t>
            </a:r>
            <a:endParaRPr lang="en-US" dirty="0"/>
          </a:p>
        </p:txBody>
      </p:sp>
      <p:sp>
        <p:nvSpPr>
          <p:cNvPr id="3" name="Content Placeholder 2"/>
          <p:cNvSpPr>
            <a:spLocks noGrp="1"/>
          </p:cNvSpPr>
          <p:nvPr>
            <p:ph idx="1"/>
          </p:nvPr>
        </p:nvSpPr>
        <p:spPr/>
        <p:txBody>
          <a:bodyPr>
            <a:normAutofit fontScale="92500" lnSpcReduction="10000"/>
          </a:bodyPr>
          <a:lstStyle/>
          <a:p>
            <a:pPr algn="r" rtl="1"/>
            <a:r>
              <a:rPr lang="fa-IR" dirty="0" smtClean="0"/>
              <a:t>اکثریت مریضان تفریط فشارخون </a:t>
            </a:r>
            <a:r>
              <a:rPr lang="fa-IR" dirty="0" smtClean="0"/>
              <a:t>باتطبیق</a:t>
            </a:r>
            <a:r>
              <a:rPr lang="en-US" dirty="0" smtClean="0"/>
              <a:t>200ml</a:t>
            </a:r>
            <a:r>
              <a:rPr lang="fa-IR" dirty="0" smtClean="0"/>
              <a:t> </a:t>
            </a:r>
            <a:r>
              <a:rPr lang="fa-IR" dirty="0" smtClean="0"/>
              <a:t>سیروم سالین%0,9جواب میدهندوبعضا مقدار بیشترمایعات ضرورت میباشدی(2-1لیتر)</a:t>
            </a:r>
          </a:p>
          <a:p>
            <a:pPr algn="r" rtl="1"/>
            <a:r>
              <a:rPr lang="fa-IR" dirty="0" smtClean="0"/>
              <a:t>درصورتیکه مریض تسمم بیشتر</a:t>
            </a:r>
            <a:r>
              <a:rPr lang="en-US" dirty="0" smtClean="0"/>
              <a:t>Hypovolemic</a:t>
            </a:r>
            <a:r>
              <a:rPr lang="fa-IR" dirty="0" smtClean="0"/>
              <a:t> باشد مثلا درنتیجه اسهالات شدید ویاتسمم بعضی ازسمارق هامقدار تطبیق مایعات نارمل سالین بیشترتطبیق میشودالبته با کنترول</a:t>
            </a:r>
            <a:r>
              <a:rPr lang="en-US" dirty="0" smtClean="0"/>
              <a:t>  CVP</a:t>
            </a:r>
            <a:endParaRPr lang="fa-IR" dirty="0" smtClean="0"/>
          </a:p>
          <a:p>
            <a:pPr algn="r" rtl="1"/>
            <a:r>
              <a:rPr lang="fa-IR" dirty="0" smtClean="0"/>
              <a:t>درضمن معاینه ایکوکاردیوگرافی وانجیوگرافی ریوی نزد مریض اجرا گردد</a:t>
            </a:r>
          </a:p>
          <a:p>
            <a:pPr algn="r" rtl="1"/>
            <a:r>
              <a:rPr lang="fa-IR" dirty="0" smtClean="0"/>
              <a:t>درصورتیکه تطبیق مایعات موثر واقع نشود از تطبیق دوپامین ویا نارادرینالین استفاده میگردد</a:t>
            </a:r>
            <a:endParaRPr lang="en-US" dirty="0"/>
          </a:p>
        </p:txBody>
      </p:sp>
    </p:spTree>
    <p:extLst>
      <p:ext uri="{BB962C8B-B14F-4D97-AF65-F5344CB8AC3E}">
        <p14:creationId xmlns:p14="http://schemas.microsoft.com/office/powerpoint/2010/main" val="6842802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normAutofit fontScale="85000" lnSpcReduction="20000"/>
          </a:bodyPr>
          <a:lstStyle/>
          <a:p>
            <a:pPr algn="r" rtl="1"/>
            <a:r>
              <a:rPr lang="fa-IR" dirty="0" smtClean="0"/>
              <a:t>دربعضی ازحالات توکسین های مختلف ایجاب تداوی های اختصاصی رامینماید:مثلامریضانیکه مصاب تسمم </a:t>
            </a:r>
            <a:r>
              <a:rPr lang="en-US" dirty="0" smtClean="0"/>
              <a:t>Tricyclic anti </a:t>
            </a:r>
            <a:r>
              <a:rPr lang="en-US" dirty="0" err="1" smtClean="0"/>
              <a:t>depresant</a:t>
            </a:r>
            <a:r>
              <a:rPr lang="fa-IR" dirty="0" smtClean="0"/>
              <a:t> ویادیگربلاکرهای چینل سودیم ازسودیم بای کاربونیت به مقدار</a:t>
            </a:r>
            <a:r>
              <a:rPr lang="en-US" dirty="0" smtClean="0"/>
              <a:t>50-100Meq</a:t>
            </a:r>
            <a:r>
              <a:rPr lang="fa-IR" dirty="0" smtClean="0"/>
              <a:t> ازطریق وریدی استفاده میشود.</a:t>
            </a:r>
          </a:p>
          <a:p>
            <a:pPr algn="r" rtl="1"/>
            <a:r>
              <a:rPr lang="fa-IR" dirty="0" smtClean="0"/>
              <a:t>از تطبیق نارادرینالین نسبت به دوپامین به مقدار</a:t>
            </a:r>
            <a:r>
              <a:rPr lang="en-US" dirty="0" smtClean="0"/>
              <a:t>4-8mcg</a:t>
            </a:r>
            <a:r>
              <a:rPr lang="fa-IR" dirty="0" smtClean="0"/>
              <a:t> بیشتر استفاده میگرددنسبت به دوپامین</a:t>
            </a:r>
          </a:p>
          <a:p>
            <a:pPr algn="r" rtl="1"/>
            <a:r>
              <a:rPr lang="fa-IR" dirty="0" smtClean="0"/>
              <a:t>درحالات تسمم بیتا بلاکر ها اززرق</a:t>
            </a:r>
            <a:r>
              <a:rPr lang="en-US" dirty="0" smtClean="0"/>
              <a:t>Glucagon</a:t>
            </a:r>
            <a:r>
              <a:rPr lang="fa-IR" dirty="0" smtClean="0"/>
              <a:t> به مقدار</a:t>
            </a:r>
            <a:endParaRPr lang="en-US" dirty="0"/>
          </a:p>
          <a:p>
            <a:pPr algn="r" rtl="1"/>
            <a:r>
              <a:rPr lang="en-US" dirty="0" smtClean="0"/>
              <a:t>5-10mg</a:t>
            </a:r>
            <a:r>
              <a:rPr lang="fa-IR" dirty="0" smtClean="0"/>
              <a:t>ازطریق داخل وریدی استفاده میگردد</a:t>
            </a:r>
          </a:p>
          <a:p>
            <a:pPr algn="r" rtl="1"/>
            <a:r>
              <a:rPr lang="fa-IR" dirty="0" smtClean="0"/>
              <a:t>درحالات تسمم کلسیم چینل بلاکرها از تطبیق کلسیم کلوراید به مقدار</a:t>
            </a:r>
            <a:r>
              <a:rPr lang="en-US" dirty="0" smtClean="0"/>
              <a:t>1-2gr</a:t>
            </a:r>
            <a:r>
              <a:rPr lang="fa-IR" dirty="0" smtClean="0"/>
              <a:t> ازطریق داخل وریدی استفاده میگردد دوزمجموعی آن</a:t>
            </a:r>
          </a:p>
          <a:p>
            <a:pPr algn="r" rtl="1"/>
            <a:r>
              <a:rPr lang="fa-IR" dirty="0" smtClean="0"/>
              <a:t>5-10 </a:t>
            </a:r>
            <a:r>
              <a:rPr lang="fa-IR" dirty="0" smtClean="0"/>
              <a:t>گرام میباشد</a:t>
            </a:r>
            <a:endParaRPr lang="en-US" dirty="0"/>
          </a:p>
        </p:txBody>
      </p:sp>
    </p:spTree>
    <p:extLst>
      <p:ext uri="{BB962C8B-B14F-4D97-AF65-F5344CB8AC3E}">
        <p14:creationId xmlns:p14="http://schemas.microsoft.com/office/powerpoint/2010/main" val="10585641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lstStyle/>
          <a:p>
            <a:pPr algn="r" rtl="1"/>
            <a:r>
              <a:rPr lang="fa-IR" dirty="0" smtClean="0"/>
              <a:t>ازتطبیق دوز بلند انسولین به مقدار</a:t>
            </a:r>
            <a:r>
              <a:rPr lang="en-US" dirty="0" smtClean="0"/>
              <a:t>0,5-1U</a:t>
            </a:r>
            <a:r>
              <a:rPr lang="fa-IR" dirty="0" smtClean="0"/>
              <a:t>ا زطریق داخل وریدی نزد مریضان</a:t>
            </a:r>
            <a:r>
              <a:rPr lang="en-US" dirty="0" smtClean="0"/>
              <a:t>  </a:t>
            </a:r>
            <a:r>
              <a:rPr lang="en-US" dirty="0" err="1" smtClean="0"/>
              <a:t>euglycemic</a:t>
            </a:r>
            <a:r>
              <a:rPr lang="fa-IR" dirty="0" smtClean="0"/>
              <a:t>استفاده میگردد</a:t>
            </a:r>
          </a:p>
          <a:p>
            <a:pPr algn="r" rtl="1"/>
            <a:r>
              <a:rPr lang="fa-IR" dirty="0" smtClean="0"/>
              <a:t>ازتطبیق </a:t>
            </a:r>
            <a:r>
              <a:rPr lang="en-US" dirty="0" smtClean="0"/>
              <a:t>Intralipid20% </a:t>
            </a:r>
            <a:r>
              <a:rPr lang="en-US" dirty="0" err="1" smtClean="0"/>
              <a:t>emoltion</a:t>
            </a:r>
            <a:r>
              <a:rPr lang="fa-IR" dirty="0" smtClean="0"/>
              <a:t> نزد مریضان غرض بلند بردن فشار بصورت دوامدارجهت کم کردن توکسین هایکه درشحم قابل حل میباشند استفاده میگرددو</a:t>
            </a:r>
          </a:p>
          <a:p>
            <a:pPr algn="r" rtl="1"/>
            <a:r>
              <a:rPr lang="fa-IR" dirty="0" smtClean="0"/>
              <a:t>درنزد مریضان که فشار شان بلند نمی رود اززرق داخل وریدی </a:t>
            </a:r>
            <a:r>
              <a:rPr lang="en-US" dirty="0" err="1" smtClean="0"/>
              <a:t>methylin</a:t>
            </a:r>
            <a:r>
              <a:rPr lang="en-US" dirty="0" smtClean="0"/>
              <a:t> blue</a:t>
            </a:r>
            <a:r>
              <a:rPr lang="fa-IR" dirty="0" smtClean="0"/>
              <a:t> ویا </a:t>
            </a:r>
            <a:r>
              <a:rPr lang="en-US" dirty="0" smtClean="0"/>
              <a:t>ECMO</a:t>
            </a:r>
            <a:r>
              <a:rPr lang="fa-IR" dirty="0" smtClean="0"/>
              <a:t>هم گاهی میشود استفاده کرد</a:t>
            </a:r>
            <a:endParaRPr lang="en-US" dirty="0"/>
          </a:p>
        </p:txBody>
      </p:sp>
    </p:spTree>
    <p:extLst>
      <p:ext uri="{BB962C8B-B14F-4D97-AF65-F5344CB8AC3E}">
        <p14:creationId xmlns:p14="http://schemas.microsoft.com/office/powerpoint/2010/main" val="35439559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Hypertension</a:t>
            </a:r>
            <a:br>
              <a:rPr lang="en-US" dirty="0" smtClean="0"/>
            </a:br>
            <a:r>
              <a:rPr lang="en-US" dirty="0" smtClean="0"/>
              <a:t>Assessment and </a:t>
            </a:r>
            <a:r>
              <a:rPr lang="en-US" dirty="0" err="1" smtClean="0"/>
              <a:t>Complicatio</a:t>
            </a:r>
            <a:endParaRPr lang="en-US" dirty="0"/>
          </a:p>
        </p:txBody>
      </p:sp>
      <p:sp>
        <p:nvSpPr>
          <p:cNvPr id="3" name="Content Placeholder 2"/>
          <p:cNvSpPr>
            <a:spLocks noGrp="1"/>
          </p:cNvSpPr>
          <p:nvPr>
            <p:ph idx="1"/>
          </p:nvPr>
        </p:nvSpPr>
        <p:spPr/>
        <p:txBody>
          <a:bodyPr/>
          <a:lstStyle/>
          <a:p>
            <a:pPr marL="0" indent="0" algn="r" rtl="1">
              <a:buNone/>
            </a:pPr>
            <a:r>
              <a:rPr lang="fa-IR" dirty="0" smtClean="0"/>
              <a:t>فرط فشار خون از سبب استعمال ادویه مختلف ازقبیل </a:t>
            </a:r>
            <a:r>
              <a:rPr lang="en-US" dirty="0" err="1" smtClean="0"/>
              <a:t>Amphetamin</a:t>
            </a:r>
            <a:r>
              <a:rPr lang="fa-IR" dirty="0" smtClean="0"/>
              <a:t>ودیگرمنبهات دماغی ویا هم ازسبب انتی کولینرجیک ها,کوکائین ویاادویه جاتیکه درترکیب شان کافین ,افدرین ویا</a:t>
            </a:r>
            <a:r>
              <a:rPr lang="en-US" dirty="0" err="1" smtClean="0"/>
              <a:t>Phenylephrin</a:t>
            </a:r>
            <a:r>
              <a:rPr lang="fa-IR" dirty="0" smtClean="0"/>
              <a:t>موجود باشد بوجود میآید</a:t>
            </a:r>
          </a:p>
          <a:p>
            <a:pPr marL="0" indent="0" algn="r">
              <a:buNone/>
            </a:pPr>
            <a:r>
              <a:rPr lang="fa-IR" dirty="0" smtClean="0"/>
              <a:t>فرط فشار خون زیاد بلند</a:t>
            </a:r>
            <a:r>
              <a:rPr lang="en-US" dirty="0" smtClean="0"/>
              <a:t>(10</a:t>
            </a:r>
            <a:r>
              <a:rPr lang="fa-IR" dirty="0"/>
              <a:t>5</a:t>
            </a:r>
            <a:r>
              <a:rPr lang="en-US" dirty="0" smtClean="0"/>
              <a:t>-110mmgh)</a:t>
            </a:r>
            <a:endParaRPr lang="fa-IR" dirty="0" smtClean="0"/>
          </a:p>
          <a:p>
            <a:pPr marL="0" indent="0" algn="r" rtl="1">
              <a:buNone/>
            </a:pPr>
            <a:r>
              <a:rPr lang="en-US" dirty="0" smtClean="0"/>
              <a:t> </a:t>
            </a:r>
            <a:r>
              <a:rPr lang="fa-IR" dirty="0" smtClean="0"/>
              <a:t>سبب خونریزی های دماغی ,احتشای قلب ویا</a:t>
            </a:r>
            <a:r>
              <a:rPr lang="en-US" dirty="0" err="1" smtClean="0"/>
              <a:t>Disection</a:t>
            </a:r>
            <a:r>
              <a:rPr lang="fa-IR" dirty="0" smtClean="0"/>
              <a:t>ابهر میشود</a:t>
            </a:r>
            <a:endParaRPr lang="en-US" dirty="0"/>
          </a:p>
        </p:txBody>
      </p:sp>
    </p:spTree>
    <p:extLst>
      <p:ext uri="{BB962C8B-B14F-4D97-AF65-F5344CB8AC3E}">
        <p14:creationId xmlns:p14="http://schemas.microsoft.com/office/powerpoint/2010/main" val="16993600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Treatment</a:t>
            </a:r>
            <a:endParaRPr lang="en-US" dirty="0"/>
          </a:p>
        </p:txBody>
      </p:sp>
      <p:sp>
        <p:nvSpPr>
          <p:cNvPr id="3" name="Content Placeholder 2"/>
          <p:cNvSpPr>
            <a:spLocks noGrp="1"/>
          </p:cNvSpPr>
          <p:nvPr>
            <p:ph idx="1"/>
          </p:nvPr>
        </p:nvSpPr>
        <p:spPr/>
        <p:txBody>
          <a:bodyPr>
            <a:normAutofit fontScale="85000" lnSpcReduction="10000"/>
          </a:bodyPr>
          <a:lstStyle/>
          <a:p>
            <a:pPr marL="0" indent="0" algn="r" rtl="1">
              <a:buNone/>
            </a:pPr>
            <a:r>
              <a:rPr lang="fa-IR" dirty="0" smtClean="0"/>
              <a:t>آنعده مریضان فرط فشارخون تداوی میگردند که نزد شان اعراض وعلایم فرط فشار خون تاسس کرده باشدویا آنعده مریضانیکه فشار دیاستولیک شان بالاتراز110-105ملی متر ستون سیماب باشد.</a:t>
            </a:r>
          </a:p>
          <a:p>
            <a:pPr marL="0" indent="0" algn="r" rtl="1">
              <a:buNone/>
            </a:pPr>
            <a:r>
              <a:rPr lang="fa-IR" dirty="0" smtClean="0"/>
              <a:t>مریضانیکه حالت هیجانی دارنداکثرا باسیداتیف هامثلا</a:t>
            </a:r>
            <a:r>
              <a:rPr lang="en-US" dirty="0" smtClean="0"/>
              <a:t> </a:t>
            </a:r>
            <a:r>
              <a:rPr lang="en-US" dirty="0" err="1" smtClean="0"/>
              <a:t>lorazepam</a:t>
            </a:r>
            <a:r>
              <a:rPr lang="fa-IR" dirty="0" smtClean="0"/>
              <a:t>به مقدار2-3ملی گرام زرق داخل وریدی ویا </a:t>
            </a:r>
            <a:r>
              <a:rPr lang="en-US" dirty="0" smtClean="0"/>
              <a:t>Diazepom5-10mg Iv</a:t>
            </a:r>
            <a:r>
              <a:rPr lang="fa-IR" dirty="0" smtClean="0"/>
              <a:t>خوب نتیجه میدهندوهم میتوانیم از ادویه </a:t>
            </a:r>
            <a:r>
              <a:rPr lang="en-US" dirty="0" smtClean="0"/>
              <a:t>Antipsychotic</a:t>
            </a:r>
            <a:r>
              <a:rPr lang="fa-IR" dirty="0" smtClean="0"/>
              <a:t>ازقبیل</a:t>
            </a:r>
            <a:r>
              <a:rPr lang="en-US" dirty="0" smtClean="0"/>
              <a:t>Haloperidol</a:t>
            </a:r>
            <a:r>
              <a:rPr lang="fa-IR" dirty="0" smtClean="0"/>
              <a:t>ویا</a:t>
            </a:r>
            <a:r>
              <a:rPr lang="en-US" dirty="0" err="1" smtClean="0"/>
              <a:t>Olanzepam</a:t>
            </a:r>
            <a:r>
              <a:rPr lang="fa-IR" dirty="0" smtClean="0"/>
              <a:t> استفاده کنیم.</a:t>
            </a:r>
          </a:p>
          <a:p>
            <a:pPr marL="0" indent="0" algn="r" rtl="1">
              <a:buNone/>
            </a:pPr>
            <a:r>
              <a:rPr lang="fa-IR" sz="3000" dirty="0" smtClean="0"/>
              <a:t>درصورتیکه فشار بلند مدت زیاد دوام کند از</a:t>
            </a:r>
            <a:r>
              <a:rPr lang="en-US" sz="3000" dirty="0" smtClean="0"/>
              <a:t>Phentolamin2-3mg</a:t>
            </a:r>
            <a:r>
              <a:rPr lang="fa-IR" sz="3000" dirty="0" smtClean="0"/>
              <a:t> </a:t>
            </a:r>
          </a:p>
          <a:p>
            <a:pPr marL="0" indent="0" algn="r" rtl="1">
              <a:buNone/>
            </a:pPr>
            <a:r>
              <a:rPr lang="fa-IR" sz="3000" dirty="0" smtClean="0"/>
              <a:t>ازطریق داخل وریدی ویا</a:t>
            </a:r>
            <a:r>
              <a:rPr lang="en-US" sz="3000" dirty="0" err="1" smtClean="0"/>
              <a:t>Sodiumnitroproside</a:t>
            </a:r>
            <a:r>
              <a:rPr lang="fa-IR" sz="3000" dirty="0" smtClean="0"/>
              <a:t>به مقدار</a:t>
            </a:r>
          </a:p>
          <a:p>
            <a:pPr marL="0" indent="0" algn="r" rtl="1">
              <a:buNone/>
            </a:pPr>
            <a:r>
              <a:rPr lang="en-US" sz="3000" dirty="0" smtClean="0"/>
              <a:t>0,25-8mcg/kg/min Iv</a:t>
            </a:r>
            <a:r>
              <a:rPr lang="fa-IR" sz="3000" dirty="0" smtClean="0"/>
              <a:t>تطبیق میگردد </a:t>
            </a:r>
            <a:endParaRPr lang="en-US" sz="3000" dirty="0"/>
          </a:p>
        </p:txBody>
      </p:sp>
    </p:spTree>
    <p:extLst>
      <p:ext uri="{BB962C8B-B14F-4D97-AF65-F5344CB8AC3E}">
        <p14:creationId xmlns:p14="http://schemas.microsoft.com/office/powerpoint/2010/main" val="25871945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lstStyle/>
          <a:p>
            <a:pPr marL="0" indent="0" algn="r" rtl="1">
              <a:buNone/>
            </a:pPr>
            <a:r>
              <a:rPr lang="fa-IR" dirty="0" smtClean="0"/>
              <a:t>ودرصورتیکه نزد مریض</a:t>
            </a:r>
            <a:r>
              <a:rPr lang="en-US" dirty="0" smtClean="0"/>
              <a:t>Tachycardia</a:t>
            </a:r>
            <a:r>
              <a:rPr lang="fa-IR" dirty="0" smtClean="0"/>
              <a:t> بوجود آمده باشد از</a:t>
            </a:r>
            <a:r>
              <a:rPr lang="en-US" dirty="0" smtClean="0"/>
              <a:t>Esmolol25-100mcg/kg/min</a:t>
            </a:r>
            <a:r>
              <a:rPr lang="fa-IR" dirty="0" smtClean="0"/>
              <a:t> ویا</a:t>
            </a:r>
            <a:r>
              <a:rPr lang="en-US" dirty="0" err="1" smtClean="0"/>
              <a:t>Labetolot</a:t>
            </a:r>
            <a:r>
              <a:rPr lang="fa-IR" dirty="0" smtClean="0"/>
              <a:t>به مقدار</a:t>
            </a:r>
            <a:r>
              <a:rPr lang="en-US" dirty="0" smtClean="0"/>
              <a:t>0,2-0,5mg IV</a:t>
            </a:r>
            <a:r>
              <a:rPr lang="fa-IR" dirty="0" smtClean="0"/>
              <a:t> تطبیق میشود یک نقطه ایکه باید به آن متوجه باشیم این است که بیتا بلاکر هارا غرض تداوی فرط فشار خون به تنهائی استفاده نکنیم زیرا بعضا دیده شده که سبب بلند رفتن فشار خون به شکل</a:t>
            </a:r>
            <a:r>
              <a:rPr lang="en-US" dirty="0" err="1" smtClean="0"/>
              <a:t>Paradoxic</a:t>
            </a:r>
            <a:r>
              <a:rPr lang="en-US" dirty="0" smtClean="0"/>
              <a:t> </a:t>
            </a:r>
            <a:r>
              <a:rPr lang="fa-IR" dirty="0" smtClean="0"/>
              <a:t>گردیده است.</a:t>
            </a:r>
          </a:p>
          <a:p>
            <a:pPr marL="0" indent="0" algn="r" rtl="1">
              <a:buNone/>
            </a:pPr>
            <a:endParaRPr lang="en-US" dirty="0"/>
          </a:p>
        </p:txBody>
      </p:sp>
    </p:spTree>
    <p:extLst>
      <p:ext uri="{BB962C8B-B14F-4D97-AF65-F5344CB8AC3E}">
        <p14:creationId xmlns:p14="http://schemas.microsoft.com/office/powerpoint/2010/main" val="26566439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Arrythmia</a:t>
            </a:r>
            <a:r>
              <a:rPr lang="en-US" dirty="0" smtClean="0"/>
              <a:t/>
            </a:r>
            <a:br>
              <a:rPr lang="en-US" dirty="0" smtClean="0"/>
            </a:br>
            <a:r>
              <a:rPr lang="en-US" dirty="0" smtClean="0"/>
              <a:t>Assessment and Complication</a:t>
            </a:r>
            <a:endParaRPr lang="en-US" dirty="0"/>
          </a:p>
        </p:txBody>
      </p:sp>
      <p:sp>
        <p:nvSpPr>
          <p:cNvPr id="3" name="Content Placeholder 2"/>
          <p:cNvSpPr>
            <a:spLocks noGrp="1"/>
          </p:cNvSpPr>
          <p:nvPr>
            <p:ph idx="1"/>
          </p:nvPr>
        </p:nvSpPr>
        <p:spPr/>
        <p:txBody>
          <a:bodyPr/>
          <a:lstStyle/>
          <a:p>
            <a:pPr marL="0" indent="0" algn="r" rtl="1">
              <a:buNone/>
            </a:pPr>
            <a:r>
              <a:rPr lang="fa-IR" sz="2000" dirty="0" smtClean="0"/>
              <a:t>اریتمی میتواند ازسبب یک تعداد ادویه ویاسم بوجودبیاید که درذیل ازآن یادآوری گردیده است</a:t>
            </a:r>
          </a:p>
          <a:p>
            <a:pPr marL="0" indent="0" algn="r" rtl="1">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209800"/>
            <a:ext cx="8229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55634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lstStyle/>
          <a:p>
            <a:pPr marL="0" indent="0" algn="r" rtl="1">
              <a:buNone/>
            </a:pPr>
            <a:r>
              <a:rPr lang="fa-IR" dirty="0" smtClean="0"/>
              <a:t>برعلاوه اریتمی میتوانددرسیر</a:t>
            </a:r>
            <a:r>
              <a:rPr lang="en-US" dirty="0" smtClean="0"/>
              <a:t>Hypoxia</a:t>
            </a:r>
            <a:r>
              <a:rPr lang="fa-IR" dirty="0" smtClean="0"/>
              <a:t> ویا</a:t>
            </a:r>
            <a:r>
              <a:rPr lang="en-US" dirty="0" smtClean="0"/>
              <a:t>metabolic acidosis</a:t>
            </a:r>
            <a:r>
              <a:rPr lang="fa-IR" dirty="0" smtClean="0"/>
              <a:t>ویا تشوشات الکترولیت ها ازقبیل زیاد ویاکم شدن پوتاسیم ,کم شدن مگنیزیم ویاکم شدن کلسیم بوجود بیایدو</a:t>
            </a:r>
          </a:p>
          <a:p>
            <a:pPr marL="0" indent="0" algn="r" rtl="1">
              <a:buNone/>
            </a:pPr>
            <a:r>
              <a:rPr lang="fa-IR" dirty="0" smtClean="0"/>
              <a:t>وهمچنان اریتمی ازسبب </a:t>
            </a:r>
            <a:r>
              <a:rPr lang="en-US" dirty="0" smtClean="0"/>
              <a:t>chlorinated </a:t>
            </a:r>
            <a:r>
              <a:rPr lang="en-US" dirty="0" err="1" smtClean="0"/>
              <a:t>solvant</a:t>
            </a:r>
            <a:r>
              <a:rPr lang="fa-IR" dirty="0" smtClean="0"/>
              <a:t>ویاهم</a:t>
            </a:r>
            <a:r>
              <a:rPr lang="en-US" dirty="0" smtClean="0"/>
              <a:t> Chloral </a:t>
            </a:r>
            <a:r>
              <a:rPr lang="en-US" dirty="0" err="1" smtClean="0"/>
              <a:t>hydrat</a:t>
            </a:r>
            <a:r>
              <a:rPr lang="fa-IR" dirty="0" smtClean="0"/>
              <a:t> هم بوجود بیاید</a:t>
            </a:r>
          </a:p>
          <a:p>
            <a:pPr marL="0" indent="0" algn="r" rtl="1">
              <a:buNone/>
            </a:pPr>
            <a:r>
              <a:rPr lang="fa-IR" dirty="0" smtClean="0"/>
              <a:t>یک نوع تکی کاردی غیر وصفی </a:t>
            </a:r>
            <a:r>
              <a:rPr lang="en-US" dirty="0" err="1" smtClean="0"/>
              <a:t>Torades</a:t>
            </a:r>
            <a:r>
              <a:rPr lang="en-US" dirty="0" smtClean="0"/>
              <a:t> de point</a:t>
            </a:r>
            <a:r>
              <a:rPr lang="fa-IR" dirty="0" smtClean="0"/>
              <a:t> </a:t>
            </a:r>
            <a:r>
              <a:rPr lang="fa-IR" sz="2800" dirty="0" smtClean="0"/>
              <a:t>ازسبب استفاده از ادویه جاتیکه </a:t>
            </a:r>
            <a:r>
              <a:rPr lang="en-US" sz="2800" dirty="0" smtClean="0"/>
              <a:t>Prolongation QT interval</a:t>
            </a:r>
            <a:r>
              <a:rPr lang="fa-IR" sz="2800" dirty="0" smtClean="0"/>
              <a:t> میشود بوجود میآید</a:t>
            </a:r>
            <a:endParaRPr lang="en-US" sz="2800" dirty="0"/>
          </a:p>
        </p:txBody>
      </p:sp>
    </p:spTree>
    <p:extLst>
      <p:ext uri="{BB962C8B-B14F-4D97-AF65-F5344CB8AC3E}">
        <p14:creationId xmlns:p14="http://schemas.microsoft.com/office/powerpoint/2010/main" val="35654481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تداوی</a:t>
            </a:r>
            <a:endParaRPr lang="en-US" dirty="0"/>
          </a:p>
        </p:txBody>
      </p:sp>
      <p:sp>
        <p:nvSpPr>
          <p:cNvPr id="3" name="Content Placeholder 2"/>
          <p:cNvSpPr>
            <a:spLocks noGrp="1"/>
          </p:cNvSpPr>
          <p:nvPr>
            <p:ph idx="1"/>
          </p:nvPr>
        </p:nvSpPr>
        <p:spPr/>
        <p:txBody>
          <a:bodyPr>
            <a:normAutofit fontScale="92500"/>
          </a:bodyPr>
          <a:lstStyle/>
          <a:p>
            <a:pPr marL="0" indent="0" algn="r" rtl="1">
              <a:buNone/>
            </a:pPr>
            <a:r>
              <a:rPr lang="fa-IR" dirty="0" smtClean="0"/>
              <a:t>درصورتیکه هایپوکسی ویاتشوش الکترولیت موجود باشد هرچه زودترتشخیص واصلاح گردد</a:t>
            </a:r>
          </a:p>
          <a:p>
            <a:pPr marL="0" indent="0" algn="r" rtl="1">
              <a:buNone/>
            </a:pPr>
            <a:r>
              <a:rPr lang="fa-IR" dirty="0" smtClean="0"/>
              <a:t>درصورتیکه اریتمی بطینی دوام نمایداز تطبیق</a:t>
            </a:r>
            <a:r>
              <a:rPr lang="en-US" dirty="0" err="1" smtClean="0"/>
              <a:t>Lidocain</a:t>
            </a:r>
            <a:r>
              <a:rPr lang="fa-IR" dirty="0" smtClean="0"/>
              <a:t> ویا</a:t>
            </a:r>
          </a:p>
          <a:p>
            <a:pPr marL="0" indent="0" algn="r" rtl="1">
              <a:buNone/>
            </a:pPr>
            <a:r>
              <a:rPr lang="en-US" dirty="0" err="1" smtClean="0"/>
              <a:t>Amiodarone</a:t>
            </a:r>
            <a:r>
              <a:rPr lang="fa-IR" dirty="0" smtClean="0"/>
              <a:t>به دوزایکه دردیگرحالات اریتمی داده میشود توصیه میگردد</a:t>
            </a:r>
          </a:p>
          <a:p>
            <a:pPr marL="0" indent="0" algn="r" rtl="1">
              <a:buNone/>
            </a:pPr>
            <a:r>
              <a:rPr lang="fa-IR" dirty="0" smtClean="0"/>
              <a:t>درصورتیکه اریتمی ازنوع</a:t>
            </a:r>
            <a:r>
              <a:rPr lang="en-US" dirty="0" smtClean="0"/>
              <a:t>Wide QRS complex </a:t>
            </a:r>
            <a:r>
              <a:rPr lang="en-US" dirty="0" err="1" smtClean="0"/>
              <a:t>tachycardy</a:t>
            </a:r>
            <a:r>
              <a:rPr lang="en-US" dirty="0" smtClean="0"/>
              <a:t> </a:t>
            </a:r>
            <a:r>
              <a:rPr lang="fa-IR" dirty="0" smtClean="0"/>
              <a:t>ازسبب</a:t>
            </a:r>
            <a:r>
              <a:rPr lang="en-US" dirty="0" smtClean="0"/>
              <a:t>Tricyclic </a:t>
            </a:r>
            <a:r>
              <a:rPr lang="en-US" dirty="0" err="1" smtClean="0"/>
              <a:t>antidepresant</a:t>
            </a:r>
            <a:r>
              <a:rPr lang="fa-IR" dirty="0" smtClean="0"/>
              <a:t>ویا ازسبب دیگرادویه بلاک کننده های چینل سودیم بوجود آمده باشداززرق داخل وریدی </a:t>
            </a:r>
            <a:r>
              <a:rPr lang="en-US" dirty="0" smtClean="0"/>
              <a:t>Sodiumbicarbonate50-100meq Iv</a:t>
            </a:r>
            <a:r>
              <a:rPr lang="fa-IR" dirty="0" smtClean="0"/>
              <a:t>استفاده میشود</a:t>
            </a:r>
            <a:endParaRPr lang="en-US" dirty="0" smtClean="0"/>
          </a:p>
        </p:txBody>
      </p:sp>
    </p:spTree>
    <p:extLst>
      <p:ext uri="{BB962C8B-B14F-4D97-AF65-F5344CB8AC3E}">
        <p14:creationId xmlns:p14="http://schemas.microsoft.com/office/powerpoint/2010/main" val="33650214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normAutofit fontScale="92500" lnSpcReduction="20000"/>
          </a:bodyPr>
          <a:lstStyle/>
          <a:p>
            <a:pPr marL="0" indent="0" algn="r" rtl="1">
              <a:buNone/>
            </a:pPr>
            <a:r>
              <a:rPr lang="fa-IR" dirty="0" smtClean="0"/>
              <a:t>ولی باید خاطر نشان ساخت که غرض تداوی این نوع مریض نبایدازادویه کلاس</a:t>
            </a:r>
            <a:r>
              <a:rPr lang="en-US" dirty="0" smtClean="0"/>
              <a:t>1a</a:t>
            </a:r>
            <a:r>
              <a:rPr lang="fa-IR" dirty="0" smtClean="0"/>
              <a:t>ویاامیدارون استفاده کرد زیرا اریتمی مریض راتشدیدمی بخشد</a:t>
            </a:r>
          </a:p>
          <a:p>
            <a:pPr marL="0" indent="0" algn="r" rtl="1">
              <a:buNone/>
            </a:pPr>
            <a:r>
              <a:rPr lang="fa-IR" dirty="0" smtClean="0"/>
              <a:t>مریضانیکه </a:t>
            </a:r>
            <a:r>
              <a:rPr lang="en-US" dirty="0" smtClean="0"/>
              <a:t>Torsade </a:t>
            </a:r>
            <a:r>
              <a:rPr lang="en-US" dirty="0" err="1" smtClean="0"/>
              <a:t>depointe</a:t>
            </a:r>
            <a:r>
              <a:rPr lang="fa-IR" dirty="0" smtClean="0"/>
              <a:t> ازسبب کمبود مگنیزیم دارند از</a:t>
            </a:r>
            <a:r>
              <a:rPr lang="en-US" dirty="0" smtClean="0"/>
              <a:t>Magnesium(2g iv during 2min)</a:t>
            </a:r>
          </a:p>
          <a:p>
            <a:pPr marL="0" indent="0" algn="r" rtl="1">
              <a:buNone/>
            </a:pPr>
            <a:r>
              <a:rPr lang="fa-IR" dirty="0" smtClean="0"/>
              <a:t>مریضان تسمم </a:t>
            </a:r>
            <a:r>
              <a:rPr lang="en-US" dirty="0" smtClean="0"/>
              <a:t>Digoxin</a:t>
            </a:r>
            <a:r>
              <a:rPr lang="fa-IR" dirty="0" smtClean="0"/>
              <a:t>که اریتمی داشته باشند توسط انتی دوت بالخاصه آن باید تداوی گردند</a:t>
            </a:r>
          </a:p>
          <a:p>
            <a:pPr marL="0" indent="0" algn="r" rtl="1">
              <a:buNone/>
            </a:pPr>
            <a:r>
              <a:rPr lang="fa-IR" dirty="0" smtClean="0"/>
              <a:t>غرض تداوی مریضان ایکه تکی کاردی ازسبب کلورل هایدرت ویا</a:t>
            </a:r>
            <a:r>
              <a:rPr lang="en-US" dirty="0" err="1" smtClean="0"/>
              <a:t>Chlorenated</a:t>
            </a:r>
            <a:r>
              <a:rPr lang="en-US" dirty="0" smtClean="0"/>
              <a:t> </a:t>
            </a:r>
            <a:r>
              <a:rPr lang="en-US" dirty="0" err="1" smtClean="0"/>
              <a:t>solvant</a:t>
            </a:r>
            <a:r>
              <a:rPr lang="fa-IR" dirty="0" smtClean="0"/>
              <a:t>دارند با</a:t>
            </a:r>
            <a:r>
              <a:rPr lang="en-US" dirty="0" err="1" smtClean="0"/>
              <a:t>Propranolo</a:t>
            </a:r>
            <a:r>
              <a:rPr lang="fa-IR" dirty="0" smtClean="0"/>
              <a:t> و</a:t>
            </a:r>
          </a:p>
          <a:p>
            <a:pPr marL="0" indent="0" algn="r" rtl="1">
              <a:buNone/>
            </a:pPr>
            <a:r>
              <a:rPr lang="en-US" dirty="0" err="1" smtClean="0"/>
              <a:t>Esmolol</a:t>
            </a:r>
            <a:r>
              <a:rPr lang="en-US" dirty="0" smtClean="0"/>
              <a:t> </a:t>
            </a:r>
            <a:r>
              <a:rPr lang="fa-IR" dirty="0" smtClean="0"/>
              <a:t>تداوی میشوند.</a:t>
            </a:r>
            <a:endParaRPr lang="en-US" dirty="0"/>
          </a:p>
        </p:txBody>
      </p:sp>
    </p:spTree>
    <p:extLst>
      <p:ext uri="{BB962C8B-B14F-4D97-AF65-F5344CB8AC3E}">
        <p14:creationId xmlns:p14="http://schemas.microsoft.com/office/powerpoint/2010/main" val="41241816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Seizure</a:t>
            </a:r>
            <a:br>
              <a:rPr lang="en-US" dirty="0" smtClean="0"/>
            </a:br>
            <a:r>
              <a:rPr lang="en-US" dirty="0" smtClean="0"/>
              <a:t>Assessment and complication</a:t>
            </a:r>
            <a:endParaRPr lang="en-US" dirty="0"/>
          </a:p>
        </p:txBody>
      </p:sp>
      <p:sp>
        <p:nvSpPr>
          <p:cNvPr id="3" name="Content Placeholder 2"/>
          <p:cNvSpPr>
            <a:spLocks noGrp="1"/>
          </p:cNvSpPr>
          <p:nvPr>
            <p:ph idx="1"/>
          </p:nvPr>
        </p:nvSpPr>
        <p:spPr/>
        <p:txBody>
          <a:bodyPr/>
          <a:lstStyle/>
          <a:p>
            <a:pPr marL="0" indent="0" algn="r" rtl="1">
              <a:buNone/>
            </a:pPr>
            <a:endParaRPr lang="en-US" dirty="0" smtClean="0"/>
          </a:p>
          <a:p>
            <a:pPr marL="0" indent="0" algn="r" rtl="1">
              <a:buNone/>
            </a:pPr>
            <a:endParaRPr lang="en-US" dirty="0"/>
          </a:p>
          <a:p>
            <a:pPr marL="0" indent="0" algn="r" rtl="1">
              <a:buNone/>
            </a:pPr>
            <a:endParaRPr lang="en-US" dirty="0" smtClean="0"/>
          </a:p>
          <a:p>
            <a:pPr marL="0" indent="0" algn="r" rtl="1">
              <a:buNone/>
            </a:pPr>
            <a:endParaRPr lang="en-US" dirty="0"/>
          </a:p>
          <a:p>
            <a:pPr marL="0" indent="0" algn="r" rtl="1">
              <a:buNone/>
            </a:pPr>
            <a:endParaRPr lang="en-US" dirty="0" smtClean="0"/>
          </a:p>
          <a:p>
            <a:pPr marL="0" indent="0" rtl="1">
              <a:buNone/>
            </a:pPr>
            <a:endParaRPr lang="en-US"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1"/>
            <a:ext cx="8153399"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1" y="3886200"/>
            <a:ext cx="7848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5105400"/>
            <a:ext cx="4343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71726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fa-IR" sz="3600" dirty="0" smtClean="0"/>
              <a:t>اختلاج همچنان میتواند درنتیجه </a:t>
            </a:r>
            <a:r>
              <a:rPr lang="en-US" sz="3600" dirty="0" err="1" smtClean="0"/>
              <a:t>Hypoxia,Hypoglycemia</a:t>
            </a:r>
            <a:r>
              <a:rPr lang="fa-IR" sz="3600" dirty="0" smtClean="0"/>
              <a:t> ویا</a:t>
            </a:r>
          </a:p>
          <a:p>
            <a:pPr marL="0" indent="0" algn="r" rtl="1">
              <a:buNone/>
            </a:pPr>
            <a:r>
              <a:rPr lang="en-US" sz="3600" dirty="0" smtClean="0"/>
              <a:t>Hypo </a:t>
            </a:r>
            <a:r>
              <a:rPr lang="en-US" sz="3600" dirty="0" err="1" smtClean="0"/>
              <a:t>calcemia</a:t>
            </a:r>
            <a:r>
              <a:rPr lang="en-US" sz="3600" dirty="0" smtClean="0"/>
              <a:t> or </a:t>
            </a:r>
            <a:r>
              <a:rPr lang="en-US" sz="3600" dirty="0" err="1" smtClean="0"/>
              <a:t>Hyponatremia</a:t>
            </a:r>
            <a:r>
              <a:rPr lang="fa-IR" sz="3600" dirty="0" smtClean="0"/>
              <a:t>قطع آنی الکول وادویه سیداتیف وخواب آورترضیضات قحفی وانتانات دماغی ومرض صرعه هم بوجود آید</a:t>
            </a:r>
          </a:p>
          <a:p>
            <a:pPr marL="0" indent="0" algn="r" rtl="1">
              <a:buNone/>
            </a:pPr>
            <a:r>
              <a:rPr lang="fa-IR" sz="3600" dirty="0" smtClean="0"/>
              <a:t>درصورتیکه حملات اختلاج دوامدار شود سبب هایپوکسی,اسیدوزس میتابولیک ,</a:t>
            </a:r>
            <a:r>
              <a:rPr lang="en-US" sz="3600" dirty="0" smtClean="0"/>
              <a:t>Hyperthermia</a:t>
            </a:r>
            <a:r>
              <a:rPr lang="fa-IR" sz="3600" dirty="0" smtClean="0"/>
              <a:t> وبالاخره</a:t>
            </a:r>
            <a:r>
              <a:rPr lang="en-US" sz="3600" dirty="0" err="1" smtClean="0"/>
              <a:t>Rhabdomyolysis</a:t>
            </a:r>
            <a:r>
              <a:rPr lang="fa-IR" sz="3600" dirty="0" smtClean="0"/>
              <a:t>شود.</a:t>
            </a:r>
            <a:endParaRPr lang="en-US" sz="3600" dirty="0"/>
          </a:p>
        </p:txBody>
      </p:sp>
    </p:spTree>
    <p:extLst>
      <p:ext uri="{BB962C8B-B14F-4D97-AF65-F5344CB8AC3E}">
        <p14:creationId xmlns:p14="http://schemas.microsoft.com/office/powerpoint/2010/main" val="22994676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تداوی</a:t>
            </a:r>
            <a:endParaRPr lang="en-US" dirty="0"/>
          </a:p>
        </p:txBody>
      </p:sp>
      <p:sp>
        <p:nvSpPr>
          <p:cNvPr id="3" name="Content Placeholder 2"/>
          <p:cNvSpPr>
            <a:spLocks noGrp="1"/>
          </p:cNvSpPr>
          <p:nvPr>
            <p:ph idx="1"/>
          </p:nvPr>
        </p:nvSpPr>
        <p:spPr/>
        <p:txBody>
          <a:bodyPr/>
          <a:lstStyle/>
          <a:p>
            <a:pPr marL="0" indent="0" algn="l">
              <a:buNone/>
            </a:pPr>
            <a:r>
              <a:rPr lang="en-US" dirty="0" smtClean="0"/>
              <a:t>1:Lorazepame2-3mg iv</a:t>
            </a:r>
          </a:p>
          <a:p>
            <a:pPr marL="0" indent="0" algn="l">
              <a:buNone/>
            </a:pPr>
            <a:r>
              <a:rPr lang="en-US" dirty="0" smtClean="0"/>
              <a:t>2:Diazepome5-10mg iv</a:t>
            </a:r>
          </a:p>
          <a:p>
            <a:pPr marL="0" indent="0" algn="l">
              <a:buNone/>
            </a:pPr>
            <a:r>
              <a:rPr lang="en-US" dirty="0" smtClean="0"/>
              <a:t>3Midazolam5-10mg  </a:t>
            </a:r>
            <a:r>
              <a:rPr lang="en-US" dirty="0" err="1" smtClean="0"/>
              <a:t>im</a:t>
            </a:r>
            <a:endParaRPr lang="en-US" dirty="0" smtClean="0"/>
          </a:p>
          <a:p>
            <a:pPr marL="0" indent="0" algn="l">
              <a:buNone/>
            </a:pPr>
            <a:r>
              <a:rPr lang="en-US" dirty="0" smtClean="0"/>
              <a:t>4Phenobarbital 15-20mg iv slowly over30min</a:t>
            </a:r>
          </a:p>
          <a:p>
            <a:pPr marL="0" indent="0" algn="l">
              <a:buNone/>
            </a:pPr>
            <a:r>
              <a:rPr lang="en-US" dirty="0" smtClean="0"/>
              <a:t>5:Propofol </a:t>
            </a:r>
          </a:p>
          <a:p>
            <a:pPr marL="0" indent="0" algn="l">
              <a:buNone/>
            </a:pPr>
            <a:r>
              <a:rPr lang="en-US" dirty="0" smtClean="0"/>
              <a:t>6:Antidote</a:t>
            </a:r>
            <a:endParaRPr lang="en-US" dirty="0"/>
          </a:p>
        </p:txBody>
      </p:sp>
    </p:spTree>
    <p:extLst>
      <p:ext uri="{BB962C8B-B14F-4D97-AF65-F5344CB8AC3E}">
        <p14:creationId xmlns:p14="http://schemas.microsoft.com/office/powerpoint/2010/main" val="12267167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81533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05757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Hyperthermia</a:t>
            </a:r>
            <a:br>
              <a:rPr lang="en-US" dirty="0" smtClean="0"/>
            </a:br>
            <a:r>
              <a:rPr lang="en-US" dirty="0" smtClean="0"/>
              <a:t>Assessment and Complication</a:t>
            </a:r>
            <a:endParaRPr lang="en-US" dirty="0"/>
          </a:p>
        </p:txBody>
      </p:sp>
      <p:sp>
        <p:nvSpPr>
          <p:cNvPr id="3" name="Content Placeholder 2"/>
          <p:cNvSpPr>
            <a:spLocks noGrp="1"/>
          </p:cNvSpPr>
          <p:nvPr>
            <p:ph idx="1"/>
          </p:nvPr>
        </p:nvSpPr>
        <p:spPr/>
        <p:txBody>
          <a:bodyPr/>
          <a:lstStyle/>
          <a:p>
            <a:pPr marL="0" indent="0" algn="l">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1524001"/>
            <a:ext cx="82296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48868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fa-IR" dirty="0" smtClean="0"/>
              <a:t>میتواند سبب شخی عضلی و</a:t>
            </a:r>
            <a:r>
              <a:rPr lang="en-US" dirty="0" smtClean="0"/>
              <a:t>Hyperthermia</a:t>
            </a:r>
            <a:r>
              <a:rPr lang="fa-IR" dirty="0" smtClean="0"/>
              <a:t> شود</a:t>
            </a:r>
          </a:p>
          <a:p>
            <a:pPr marL="0" indent="0" algn="r" rtl="1">
              <a:buNone/>
            </a:pPr>
            <a:r>
              <a:rPr lang="en-US" dirty="0" err="1" smtClean="0"/>
              <a:t>Malegnant</a:t>
            </a:r>
            <a:r>
              <a:rPr lang="en-US" dirty="0" smtClean="0"/>
              <a:t> hyperthermia</a:t>
            </a:r>
            <a:r>
              <a:rPr lang="fa-IR" dirty="0" smtClean="0"/>
              <a:t> میتواندبه تعقیب انستیزی عمومی توسط بعضی از ادویه جات بوجود آید</a:t>
            </a:r>
          </a:p>
          <a:p>
            <a:pPr marL="0" indent="0" algn="r" rtl="1">
              <a:buNone/>
            </a:pPr>
            <a:r>
              <a:rPr lang="en-US" dirty="0" smtClean="0"/>
              <a:t>Hyperthermia</a:t>
            </a:r>
            <a:r>
              <a:rPr lang="fa-IR" dirty="0" smtClean="0"/>
              <a:t>میتواند یک حادثه تهدیدکننده حیات به شمار آید</a:t>
            </a:r>
          </a:p>
          <a:p>
            <a:pPr marL="0" indent="0" algn="r" rtl="1">
              <a:buNone/>
            </a:pPr>
            <a:r>
              <a:rPr lang="fa-IR" dirty="0" smtClean="0"/>
              <a:t>بلند رفتن درجه حرارت بالاتراز</a:t>
            </a:r>
            <a:r>
              <a:rPr lang="en-US" dirty="0" smtClean="0"/>
              <a:t>40-41</a:t>
            </a:r>
            <a:r>
              <a:rPr lang="fa-IR" dirty="0" smtClean="0"/>
              <a:t>درجه سانتی گریدسبب</a:t>
            </a:r>
          </a:p>
          <a:p>
            <a:pPr marL="0" indent="0" algn="r" rtl="1">
              <a:buNone/>
            </a:pPr>
            <a:r>
              <a:rPr lang="fa-IR" dirty="0" smtClean="0"/>
              <a:t>تخریبات دماغی وعدم کفایه اورگانهای حیاتی شود سبب   </a:t>
            </a:r>
            <a:r>
              <a:rPr lang="en-US" dirty="0" err="1" smtClean="0"/>
              <a:t>rhabdomyolysis</a:t>
            </a:r>
            <a:r>
              <a:rPr lang="fa-IR" dirty="0" smtClean="0"/>
              <a:t> ,عدم کفایه کلیوی وتشوشات حلقه وی خون شود</a:t>
            </a:r>
            <a:endParaRPr lang="en-US" dirty="0"/>
          </a:p>
        </p:txBody>
      </p:sp>
    </p:spTree>
    <p:extLst>
      <p:ext uri="{BB962C8B-B14F-4D97-AF65-F5344CB8AC3E}">
        <p14:creationId xmlns:p14="http://schemas.microsoft.com/office/powerpoint/2010/main" val="1515950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تداوی</a:t>
            </a:r>
            <a:endParaRPr lang="en-US" dirty="0"/>
          </a:p>
        </p:txBody>
      </p:sp>
      <p:sp>
        <p:nvSpPr>
          <p:cNvPr id="3" name="Content Placeholder 2"/>
          <p:cNvSpPr>
            <a:spLocks noGrp="1"/>
          </p:cNvSpPr>
          <p:nvPr>
            <p:ph idx="1"/>
          </p:nvPr>
        </p:nvSpPr>
        <p:spPr/>
        <p:txBody>
          <a:bodyPr/>
          <a:lstStyle/>
          <a:p>
            <a:pPr marL="0" indent="0" algn="r" rtl="1">
              <a:buNone/>
            </a:pPr>
            <a:r>
              <a:rPr lang="fa-IR" dirty="0" smtClean="0"/>
              <a:t>1:کشیدن لباسها</a:t>
            </a:r>
          </a:p>
          <a:p>
            <a:pPr marL="0" indent="0" algn="r" rtl="1">
              <a:buNone/>
            </a:pPr>
            <a:r>
              <a:rPr lang="fa-IR" dirty="0" smtClean="0"/>
              <a:t>2 گذاشتن مریض درساحه آب سرد</a:t>
            </a:r>
          </a:p>
          <a:p>
            <a:pPr marL="0" indent="0" algn="r" rtl="1">
              <a:buNone/>
            </a:pPr>
            <a:r>
              <a:rPr lang="fa-IR" dirty="0" smtClean="0"/>
              <a:t>3:تطبیق نکردن موضعی پارچه های یخ دریک قسمت بدن</a:t>
            </a:r>
          </a:p>
          <a:p>
            <a:pPr marL="0" indent="0" algn="r" rtl="1">
              <a:buNone/>
            </a:pPr>
            <a:r>
              <a:rPr lang="fa-IR" dirty="0" smtClean="0"/>
              <a:t>4:چالان کردن باد پکه های قوی</a:t>
            </a:r>
          </a:p>
          <a:p>
            <a:pPr marL="0" indent="0" algn="r" rtl="1">
              <a:buNone/>
            </a:pPr>
            <a:r>
              <a:rPr lang="fa-IR" dirty="0" smtClean="0"/>
              <a:t>5:درصورتیکه تطبیقات سردموثرواقع نگردد ودرجه حرارت مقعدی درظرف30-40 دقیقه پائین نیاید وشخی عضلاتی مریض دوام کندوسبب فلج عضلی عصبی شده باشد دراین حالت از</a:t>
            </a:r>
            <a:r>
              <a:rPr lang="en-US" dirty="0" smtClean="0"/>
              <a:t>Neuromuscular Blocker</a:t>
            </a:r>
            <a:r>
              <a:rPr lang="fa-IR" dirty="0" smtClean="0"/>
              <a:t> ها مثل</a:t>
            </a:r>
            <a:endParaRPr lang="en-US" dirty="0"/>
          </a:p>
        </p:txBody>
      </p:sp>
    </p:spTree>
    <p:extLst>
      <p:ext uri="{BB962C8B-B14F-4D97-AF65-F5344CB8AC3E}">
        <p14:creationId xmlns:p14="http://schemas.microsoft.com/office/powerpoint/2010/main" val="14699825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lstStyle/>
          <a:p>
            <a:pPr marL="0" indent="0" algn="r" rtl="1">
              <a:buNone/>
            </a:pPr>
            <a:r>
              <a:rPr lang="en-US" dirty="0" err="1" smtClean="0"/>
              <a:t>Rocuronium,Vecuronium</a:t>
            </a:r>
            <a:r>
              <a:rPr lang="en-US" dirty="0" smtClean="0"/>
              <a:t>)</a:t>
            </a:r>
            <a:r>
              <a:rPr lang="fa-IR" dirty="0" smtClean="0"/>
              <a:t>)استفاده میشود</a:t>
            </a:r>
          </a:p>
          <a:p>
            <a:pPr marL="0" indent="0" algn="r" rtl="1">
              <a:buNone/>
            </a:pPr>
            <a:r>
              <a:rPr lang="fa-IR" dirty="0" smtClean="0"/>
              <a:t>ودر صورتیکه نزد مریض فلج تاسس کرده باشد مریض تحت ماشین</a:t>
            </a:r>
            <a:r>
              <a:rPr lang="en-US" dirty="0" smtClean="0"/>
              <a:t>Ventilation</a:t>
            </a:r>
            <a:r>
              <a:rPr lang="fa-IR" dirty="0" smtClean="0"/>
              <a:t> قرارداده میشودتازمانیکه نزد مریض فلج برطرف گردد</a:t>
            </a:r>
          </a:p>
          <a:p>
            <a:pPr marL="0" indent="0" algn="r" rtl="1">
              <a:buNone/>
            </a:pPr>
            <a:r>
              <a:rPr lang="fa-IR" dirty="0" smtClean="0"/>
              <a:t>5:</a:t>
            </a:r>
            <a:r>
              <a:rPr lang="en-US" dirty="0" smtClean="0"/>
              <a:t>Dantroline2-5mg iv</a:t>
            </a:r>
            <a:r>
              <a:rPr lang="fa-IR" dirty="0" smtClean="0"/>
              <a:t> میتواندغرض رفع شخی عضلی که بادیگر ادویه برطرف نشده باشد موثرواقع گردد</a:t>
            </a:r>
          </a:p>
          <a:p>
            <a:pPr marL="0" indent="0" algn="r" rtl="1">
              <a:buNone/>
            </a:pPr>
            <a:r>
              <a:rPr lang="fa-IR" dirty="0" smtClean="0"/>
              <a:t>6:</a:t>
            </a:r>
            <a:r>
              <a:rPr lang="en-US" dirty="0" smtClean="0"/>
              <a:t>Bromocriptin2,5-7,5mg </a:t>
            </a:r>
            <a:r>
              <a:rPr lang="fa-IR" dirty="0" smtClean="0"/>
              <a:t> ازطریق فمی روزانه هم میتواند موثر واقع گردد</a:t>
            </a:r>
          </a:p>
          <a:p>
            <a:pPr marL="0" indent="0" algn="r" rtl="1">
              <a:buNone/>
            </a:pPr>
            <a:endParaRPr lang="en-US" dirty="0"/>
          </a:p>
        </p:txBody>
      </p:sp>
    </p:spTree>
    <p:extLst>
      <p:ext uri="{BB962C8B-B14F-4D97-AF65-F5344CB8AC3E}">
        <p14:creationId xmlns:p14="http://schemas.microsoft.com/office/powerpoint/2010/main" val="37710061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lstStyle/>
          <a:p>
            <a:pPr marL="0" indent="0" algn="r" rtl="1">
              <a:buNone/>
            </a:pPr>
            <a:r>
              <a:rPr lang="en-US" dirty="0" err="1" smtClean="0"/>
              <a:t>Cyproheptadine</a:t>
            </a:r>
            <a:r>
              <a:rPr lang="fa-IR" dirty="0" smtClean="0"/>
              <a:t> 4ملی گرام از طریق فمی هر یک ساعت بعدبرای چار دوز</a:t>
            </a:r>
          </a:p>
          <a:p>
            <a:pPr marL="0" indent="0" algn="r" rtl="1">
              <a:buNone/>
            </a:pPr>
            <a:r>
              <a:rPr lang="en-US" dirty="0" smtClean="0"/>
              <a:t>Chloropromazine25mg iv</a:t>
            </a:r>
            <a:r>
              <a:rPr lang="fa-IR" dirty="0" smtClean="0"/>
              <a:t> ویا</a:t>
            </a:r>
            <a:r>
              <a:rPr lang="en-US" dirty="0" smtClean="0"/>
              <a:t>50mg </a:t>
            </a:r>
            <a:r>
              <a:rPr lang="en-US" dirty="0" err="1" smtClean="0"/>
              <a:t>im</a:t>
            </a:r>
            <a:r>
              <a:rPr lang="fa-IR" dirty="0" smtClean="0"/>
              <a:t>غرض تداوی</a:t>
            </a:r>
            <a:r>
              <a:rPr lang="en-US" dirty="0" smtClean="0"/>
              <a:t> </a:t>
            </a:r>
            <a:r>
              <a:rPr lang="en-US" dirty="0" err="1" smtClean="0"/>
              <a:t>Sertonin</a:t>
            </a:r>
            <a:r>
              <a:rPr lang="en-US" dirty="0" smtClean="0"/>
              <a:t> </a:t>
            </a:r>
            <a:r>
              <a:rPr lang="en-US" dirty="0" err="1" smtClean="0"/>
              <a:t>syndrom</a:t>
            </a:r>
            <a:r>
              <a:rPr lang="en-US" dirty="0" smtClean="0"/>
              <a:t> </a:t>
            </a:r>
            <a:r>
              <a:rPr lang="fa-IR" dirty="0" smtClean="0"/>
              <a:t> استفاده میشود.</a:t>
            </a:r>
            <a:endParaRPr lang="en-US" dirty="0"/>
          </a:p>
        </p:txBody>
      </p:sp>
    </p:spTree>
    <p:extLst>
      <p:ext uri="{BB962C8B-B14F-4D97-AF65-F5344CB8AC3E}">
        <p14:creationId xmlns:p14="http://schemas.microsoft.com/office/powerpoint/2010/main" val="7610403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Antidotes and other Treatment</a:t>
            </a:r>
            <a:br>
              <a:rPr lang="en-US" dirty="0" smtClean="0"/>
            </a:br>
            <a:r>
              <a:rPr lang="en-US" dirty="0" smtClean="0"/>
              <a:t>Antidotes</a:t>
            </a:r>
            <a:endParaRPr lang="en-US" dirty="0"/>
          </a:p>
        </p:txBody>
      </p:sp>
      <p:sp>
        <p:nvSpPr>
          <p:cNvPr id="3" name="Content Placeholder 2"/>
          <p:cNvSpPr>
            <a:spLocks noGrp="1"/>
          </p:cNvSpPr>
          <p:nvPr>
            <p:ph idx="1"/>
          </p:nvPr>
        </p:nvSpPr>
        <p:spPr/>
        <p:txBody>
          <a:bodyPr/>
          <a:lstStyle/>
          <a:p>
            <a:pPr marL="0" indent="0" algn="r" rtl="1">
              <a:buNone/>
            </a:pPr>
            <a:r>
              <a:rPr lang="fa-IR" dirty="0" smtClean="0"/>
              <a:t>توصیه انتی دوت درصورت ایکه قابل دست رس باشد وتشخیص مرض قطعی باشد خیلی باارزش میباشد ولی باید خاطر نشان ساخت که توصیه انتی دوت دربعضی از حالات ممکن سبب بروز عوارض جانبی مهم شود.</a:t>
            </a:r>
            <a:endParaRPr lang="en-US" dirty="0"/>
          </a:p>
        </p:txBody>
      </p:sp>
    </p:spTree>
    <p:extLst>
      <p:ext uri="{BB962C8B-B14F-4D97-AF65-F5344CB8AC3E}">
        <p14:creationId xmlns:p14="http://schemas.microsoft.com/office/powerpoint/2010/main" val="33665349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52400"/>
            <a:ext cx="77724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9373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Decontaminatio</a:t>
            </a:r>
            <a:r>
              <a:rPr lang="en-US" dirty="0" smtClean="0"/>
              <a:t> of the Skin</a:t>
            </a:r>
            <a:endParaRPr lang="en-US" dirty="0"/>
          </a:p>
        </p:txBody>
      </p:sp>
      <p:sp>
        <p:nvSpPr>
          <p:cNvPr id="3" name="Content Placeholder 2"/>
          <p:cNvSpPr>
            <a:spLocks noGrp="1"/>
          </p:cNvSpPr>
          <p:nvPr>
            <p:ph idx="1"/>
          </p:nvPr>
        </p:nvSpPr>
        <p:spPr/>
        <p:txBody>
          <a:bodyPr/>
          <a:lstStyle/>
          <a:p>
            <a:pPr marL="0" indent="0" algn="r" rtl="1">
              <a:buNone/>
            </a:pPr>
            <a:r>
              <a:rPr lang="fa-IR" dirty="0" smtClean="0"/>
              <a:t>1:مواد</a:t>
            </a:r>
            <a:r>
              <a:rPr lang="en-US" dirty="0" smtClean="0"/>
              <a:t>Corrosive</a:t>
            </a:r>
            <a:r>
              <a:rPr lang="fa-IR" dirty="0" smtClean="0"/>
              <a:t> میتواندسبب تخریبات درچشم ویا جلدشود بدین لحاظ هرچه عاجل ازجلد وچشم پاک گردد</a:t>
            </a:r>
          </a:p>
          <a:p>
            <a:pPr marL="0" indent="0" algn="r" rtl="1">
              <a:buNone/>
            </a:pPr>
            <a:r>
              <a:rPr lang="fa-IR" dirty="0" smtClean="0"/>
              <a:t>2:بعضی ازمواد توکسیک میتواند ازطریق جلدجذب وسبب اعراض سیستمیک شود پس باید این مواد هرچه عاجل از وجود پاک ساخته شود</a:t>
            </a:r>
          </a:p>
          <a:p>
            <a:pPr marL="0" indent="0" algn="r" rtl="1">
              <a:buNone/>
            </a:pPr>
            <a:r>
              <a:rPr lang="fa-IR" dirty="0" smtClean="0"/>
              <a:t>3:این مواد بایدتوسط آب نیم گرم</a:t>
            </a:r>
            <a:r>
              <a:rPr lang="en-US" dirty="0" smtClean="0"/>
              <a:t>(</a:t>
            </a:r>
            <a:r>
              <a:rPr lang="en-US" dirty="0" err="1" smtClean="0"/>
              <a:t>Lukwater</a:t>
            </a:r>
            <a:r>
              <a:rPr lang="en-US" dirty="0" smtClean="0"/>
              <a:t>)</a:t>
            </a:r>
            <a:r>
              <a:rPr lang="fa-IR" dirty="0" smtClean="0"/>
              <a:t> ویا سیروم سالین شسته شود وشخصی که این مواد را از بدن مریض پاک میسازد باید بااحتیاط این عملیه را اجرا کند.</a:t>
            </a:r>
            <a:endParaRPr lang="en-US" dirty="0"/>
          </a:p>
        </p:txBody>
      </p:sp>
    </p:spTree>
    <p:extLst>
      <p:ext uri="{BB962C8B-B14F-4D97-AF65-F5344CB8AC3E}">
        <p14:creationId xmlns:p14="http://schemas.microsoft.com/office/powerpoint/2010/main" val="2016640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normAutofit fontScale="92500" lnSpcReduction="20000"/>
          </a:bodyPr>
          <a:lstStyle/>
          <a:p>
            <a:pPr marL="0" indent="0" algn="r" rtl="1">
              <a:buNone/>
            </a:pPr>
            <a:r>
              <a:rPr lang="fa-IR" dirty="0" smtClean="0"/>
              <a:t>4قسمت های خلف گوشها ,زیرناخن ها وچملکی های جلد باید به دقت شسته شود</a:t>
            </a:r>
          </a:p>
          <a:p>
            <a:pPr marL="0" indent="0" algn="r" rtl="1">
              <a:buNone/>
            </a:pPr>
            <a:r>
              <a:rPr lang="fa-IR" dirty="0" smtClean="0"/>
              <a:t>5:برای شستن مواد چرب مثلاحشره کش ها ازآب وصابون حد اقل دوبار</a:t>
            </a:r>
          </a:p>
          <a:p>
            <a:pPr marL="0" indent="0" algn="r" rtl="1">
              <a:buNone/>
            </a:pPr>
            <a:r>
              <a:rPr lang="fa-IR" dirty="0" smtClean="0"/>
              <a:t>6:شستن موها توسط شامپو</a:t>
            </a:r>
          </a:p>
          <a:p>
            <a:pPr marL="0" indent="0" algn="r" rtl="1">
              <a:buNone/>
            </a:pPr>
            <a:r>
              <a:rPr lang="fa-IR" dirty="0" smtClean="0"/>
              <a:t>7:استفاده ازبعضی ازمواد شوینده مثلاالکول بعضا مضر بوده وجذب مواد توکسیک رازیاد میسازد</a:t>
            </a:r>
          </a:p>
          <a:p>
            <a:pPr marL="0" indent="0" algn="r" rtl="1">
              <a:buNone/>
            </a:pPr>
            <a:r>
              <a:rPr lang="fa-IR" dirty="0" smtClean="0"/>
              <a:t>8:بعضی از مولفین غرض شستشوی بعضی از مواد توکسیک ازسودیم هایپوکلوراید استفاده میکنند 1:10ولی استعمال این مواد درچشم استطباب ندارد.</a:t>
            </a:r>
            <a:endParaRPr lang="en-US" dirty="0"/>
          </a:p>
        </p:txBody>
      </p:sp>
    </p:spTree>
    <p:extLst>
      <p:ext uri="{BB962C8B-B14F-4D97-AF65-F5344CB8AC3E}">
        <p14:creationId xmlns:p14="http://schemas.microsoft.com/office/powerpoint/2010/main" val="36326702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Decontamination of the Eye</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en-US" dirty="0" smtClean="0"/>
              <a:t>1</a:t>
            </a:r>
            <a:r>
              <a:rPr lang="fa-IR" dirty="0" smtClean="0"/>
              <a:t>:شستن چشم با سیروم سالین غرض جلوگیری ازتخریبات خیلی قابل اهمیت میباشد.</a:t>
            </a:r>
          </a:p>
          <a:p>
            <a:pPr marL="0" indent="0" algn="r" rtl="1">
              <a:buNone/>
            </a:pPr>
            <a:r>
              <a:rPr lang="fa-IR" dirty="0" smtClean="0"/>
              <a:t>2:درصورت موجودیت ماده انستیتیک چشم قبل ازشستن باید درچشم تطبیق گردد.</a:t>
            </a:r>
          </a:p>
          <a:p>
            <a:pPr marL="0" indent="0" algn="r" rtl="1">
              <a:buNone/>
            </a:pPr>
            <a:r>
              <a:rPr lang="fa-IR" dirty="0" smtClean="0"/>
              <a:t>3:درصورت موجودیت عدسیه ساختگی باید ازچشم دورگردد </a:t>
            </a:r>
          </a:p>
          <a:p>
            <a:pPr marL="0" indent="0" algn="r" rtl="1">
              <a:buNone/>
            </a:pPr>
            <a:r>
              <a:rPr lang="fa-IR" dirty="0" smtClean="0"/>
              <a:t>4: پلک ها بایدبه بالا کشیده شود تا درصورت موجودیت جسم اجنبی دورگردد تا عملیه شستشو درست صورت گیرد.</a:t>
            </a:r>
          </a:p>
          <a:p>
            <a:pPr marL="0" indent="0" algn="r" rtl="1">
              <a:buNone/>
            </a:pPr>
            <a:r>
              <a:rPr lang="fa-IR" dirty="0" smtClean="0"/>
              <a:t>5:هر چشم باید برای مدت 20دقیقه بایک لیتر سالین ویا آب پاک شسته شود</a:t>
            </a:r>
            <a:endParaRPr lang="en-US" dirty="0"/>
          </a:p>
        </p:txBody>
      </p:sp>
    </p:spTree>
    <p:extLst>
      <p:ext uri="{BB962C8B-B14F-4D97-AF65-F5344CB8AC3E}">
        <p14:creationId xmlns:p14="http://schemas.microsoft.com/office/powerpoint/2010/main" val="27176711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fa-IR" dirty="0" smtClean="0"/>
              <a:t>6:درصورتیکه چشم باتیزاب ویاالقلی مسموم شده باشد شستن راتازمانی ادامه میدهیم که</a:t>
            </a:r>
            <a:r>
              <a:rPr lang="en-US" dirty="0" smtClean="0"/>
              <a:t>PH</a:t>
            </a:r>
            <a:r>
              <a:rPr lang="fa-IR" dirty="0" smtClean="0"/>
              <a:t>اشک بین 8-6برسد</a:t>
            </a:r>
          </a:p>
          <a:p>
            <a:pPr marL="0" indent="0" algn="r" rtl="1">
              <a:buNone/>
            </a:pPr>
            <a:r>
              <a:rPr lang="fa-IR" dirty="0" smtClean="0"/>
              <a:t>9:بعضی از مولفین در حالت مسمومیت چشم با مواد القلی از</a:t>
            </a:r>
            <a:r>
              <a:rPr lang="en-US" dirty="0" smtClean="0"/>
              <a:t>Amphoteric</a:t>
            </a:r>
            <a:r>
              <a:rPr lang="fa-IR" dirty="0" smtClean="0"/>
              <a:t> مثلااز</a:t>
            </a:r>
            <a:r>
              <a:rPr lang="en-US" dirty="0" smtClean="0"/>
              <a:t>(</a:t>
            </a:r>
            <a:r>
              <a:rPr lang="en-US" dirty="0" err="1" smtClean="0"/>
              <a:t>Diphoterine,Prever</a:t>
            </a:r>
            <a:r>
              <a:rPr lang="en-US" dirty="0" smtClean="0"/>
              <a:t>)</a:t>
            </a:r>
            <a:r>
              <a:rPr lang="fa-IR" dirty="0" smtClean="0"/>
              <a:t>استفاده میکنند</a:t>
            </a:r>
          </a:p>
          <a:p>
            <a:pPr marL="0" indent="0" algn="r" rtl="1">
              <a:buNone/>
            </a:pPr>
            <a:r>
              <a:rPr lang="fa-IR" dirty="0" smtClean="0"/>
              <a:t>10:بعد ازاینکه شستن تمام شدچشمان مریض با دقت توسط چراغ های مخصوص معاینه میشود.</a:t>
            </a:r>
          </a:p>
          <a:p>
            <a:pPr marL="0" indent="0" algn="r" rtl="1">
              <a:buNone/>
            </a:pPr>
            <a:r>
              <a:rPr lang="fa-IR" dirty="0" smtClean="0"/>
              <a:t>11: درصورت تخریبات قرنیه و</a:t>
            </a:r>
            <a:r>
              <a:rPr lang="en-US" dirty="0" err="1" smtClean="0"/>
              <a:t>Cojunctiva</a:t>
            </a:r>
            <a:r>
              <a:rPr lang="fa-IR" dirty="0" smtClean="0"/>
              <a:t>مریض به داکترچشم رجعت داده شود</a:t>
            </a:r>
            <a:endParaRPr lang="en-US" dirty="0"/>
          </a:p>
        </p:txBody>
      </p:sp>
    </p:spTree>
    <p:extLst>
      <p:ext uri="{BB962C8B-B14F-4D97-AF65-F5344CB8AC3E}">
        <p14:creationId xmlns:p14="http://schemas.microsoft.com/office/powerpoint/2010/main" val="17336246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Gastrointestinal </a:t>
            </a:r>
            <a:r>
              <a:rPr lang="en-US" dirty="0"/>
              <a:t> </a:t>
            </a:r>
            <a:r>
              <a:rPr lang="en-US" dirty="0" smtClean="0"/>
              <a:t>decontamination</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fa-IR" dirty="0" smtClean="0"/>
              <a:t>اززمان های گذشته خالی کردن معده توسط لواژ ویا استفراغ یک اصل عمده در تداوی مریضان تسمم پنداشته میشد ولی حالادیده شده که تخلیه معده بالای کم کردن عواقب مرض کدام تاثیری به سزائی نسبت به تطبیق کاربن ندارد.</a:t>
            </a:r>
          </a:p>
          <a:p>
            <a:pPr marL="0" indent="0" algn="r" rtl="1">
              <a:buNone/>
            </a:pPr>
            <a:r>
              <a:rPr lang="fa-IR" dirty="0" smtClean="0"/>
              <a:t>درصورت خوردن مقدارکم ویا متوسط مواد توکسیک تطبق کاربن از طریق فمی خیلی باارزش پنداشته شده است البته در1-2ساعت اول</a:t>
            </a:r>
          </a:p>
          <a:p>
            <a:pPr marL="0" indent="0" algn="r" rtl="1">
              <a:buNone/>
            </a:pPr>
            <a:r>
              <a:rPr lang="fa-IR" dirty="0" smtClean="0"/>
              <a:t>ودرصورتیکه دوا تطبیق شده بصورت تدریجی آزاد وجذب شود تطبیق کاربن بعد ازساعات بیشترهم موثریت دارد</a:t>
            </a:r>
            <a:endParaRPr lang="en-US" dirty="0"/>
          </a:p>
        </p:txBody>
      </p:sp>
    </p:spTree>
    <p:extLst>
      <p:ext uri="{BB962C8B-B14F-4D97-AF65-F5344CB8AC3E}">
        <p14:creationId xmlns:p14="http://schemas.microsoft.com/office/powerpoint/2010/main" val="421016332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 </a:t>
            </a:r>
            <a:endParaRPr lang="en-US" dirty="0"/>
          </a:p>
        </p:txBody>
      </p:sp>
      <p:sp>
        <p:nvSpPr>
          <p:cNvPr id="3" name="Content Placeholder 2"/>
          <p:cNvSpPr>
            <a:spLocks noGrp="1"/>
          </p:cNvSpPr>
          <p:nvPr>
            <p:ph idx="1"/>
          </p:nvPr>
        </p:nvSpPr>
        <p:spPr/>
        <p:txBody>
          <a:bodyPr/>
          <a:lstStyle/>
          <a:p>
            <a:pPr marL="0" indent="0" algn="r" rtl="1">
              <a:buNone/>
            </a:pPr>
            <a:r>
              <a:rPr lang="fa-IR" dirty="0" smtClean="0"/>
              <a:t>تخلیه معده درصورت خوردن مواد</a:t>
            </a:r>
            <a:r>
              <a:rPr lang="en-US" dirty="0" smtClean="0"/>
              <a:t>Corrosive</a:t>
            </a:r>
            <a:r>
              <a:rPr lang="fa-IR" dirty="0" smtClean="0"/>
              <a:t>وپطرول بخاطرتخریبات مری واسپیریشن ریوی استطباب ندارد.ولی در بعضی از حالات تخلیه معده جهت کم کردن جذب مواد توکسیک ارزش خاص خود رادارد.که دراین حالت با مشوره بامرکز کنترول سمیات ومعلومات درباره نوع سم درقسمت لواژمعده اقدام صورت گیرد</a:t>
            </a:r>
            <a:endParaRPr lang="en-US" dirty="0"/>
          </a:p>
        </p:txBody>
      </p:sp>
    </p:spTree>
    <p:extLst>
      <p:ext uri="{BB962C8B-B14F-4D97-AF65-F5344CB8AC3E}">
        <p14:creationId xmlns:p14="http://schemas.microsoft.com/office/powerpoint/2010/main" val="26798873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Activated charcoal</a:t>
            </a:r>
            <a:endParaRPr lang="en-US" dirty="0"/>
          </a:p>
        </p:txBody>
      </p:sp>
      <p:sp>
        <p:nvSpPr>
          <p:cNvPr id="3" name="Content Placeholder 2"/>
          <p:cNvSpPr>
            <a:spLocks noGrp="1"/>
          </p:cNvSpPr>
          <p:nvPr>
            <p:ph idx="1"/>
          </p:nvPr>
        </p:nvSpPr>
        <p:spPr/>
        <p:txBody>
          <a:bodyPr>
            <a:normAutofit fontScale="92500" lnSpcReduction="20000"/>
          </a:bodyPr>
          <a:lstStyle/>
          <a:p>
            <a:pPr marL="0" indent="0" algn="r" rtl="1">
              <a:buNone/>
            </a:pPr>
            <a:r>
              <a:rPr lang="fa-IR" dirty="0" smtClean="0"/>
              <a:t>کاربن مانع جذب اکثریت دواها وسمیات میشود البته به استثنای آهن,</a:t>
            </a:r>
            <a:r>
              <a:rPr lang="en-US" dirty="0" err="1" smtClean="0"/>
              <a:t>Lithum</a:t>
            </a:r>
            <a:r>
              <a:rPr lang="fa-IR" dirty="0" smtClean="0"/>
              <a:t>,</a:t>
            </a:r>
            <a:r>
              <a:rPr lang="en-US" dirty="0" err="1" smtClean="0"/>
              <a:t>Potasum,Sodum,meneral</a:t>
            </a:r>
            <a:r>
              <a:rPr lang="en-US" dirty="0" smtClean="0"/>
              <a:t> and</a:t>
            </a:r>
          </a:p>
          <a:p>
            <a:pPr marL="0" indent="0" algn="r" rtl="1">
              <a:buNone/>
            </a:pPr>
            <a:r>
              <a:rPr lang="en-US" dirty="0" smtClean="0"/>
              <a:t>Alcohol</a:t>
            </a:r>
            <a:endParaRPr lang="fa-IR" dirty="0" smtClean="0"/>
          </a:p>
          <a:p>
            <a:pPr marL="0" indent="0" algn="r" rtl="1">
              <a:buNone/>
            </a:pPr>
            <a:r>
              <a:rPr lang="fa-IR" dirty="0" smtClean="0"/>
              <a:t>استطباب:</a:t>
            </a:r>
          </a:p>
          <a:p>
            <a:pPr marL="0" indent="0" algn="r" rtl="1">
              <a:buNone/>
            </a:pPr>
            <a:r>
              <a:rPr lang="fa-IR" dirty="0" smtClean="0"/>
              <a:t>1:تطبیق کاربن جهت کم کردن جذب اکثریت دواها وتوکسین ها استفاده میشود.</a:t>
            </a:r>
          </a:p>
          <a:p>
            <a:pPr marL="0" indent="0" algn="r" rtl="1">
              <a:buNone/>
            </a:pPr>
            <a:r>
              <a:rPr lang="fa-IR" dirty="0" smtClean="0"/>
              <a:t>2:دربعضی از حالاتیکه کاربن یکجا باسوربیتول تطبیق میشود بخاطرتولید استفراغ وبوجود آمدن اسپیریشن محتوی معده درریه ها مخصوصا درمریضان ایکه شعورندارنداستعمال این ادویه محدود گردیده است.</a:t>
            </a:r>
            <a:endParaRPr lang="en-US" dirty="0"/>
          </a:p>
        </p:txBody>
      </p:sp>
    </p:spTree>
    <p:extLst>
      <p:ext uri="{BB962C8B-B14F-4D97-AF65-F5344CB8AC3E}">
        <p14:creationId xmlns:p14="http://schemas.microsoft.com/office/powerpoint/2010/main" val="28112379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ادامه</a:t>
            </a:r>
            <a:endParaRPr lang="en-US" dirty="0"/>
          </a:p>
        </p:txBody>
      </p:sp>
      <p:sp>
        <p:nvSpPr>
          <p:cNvPr id="3" name="Content Placeholder 2"/>
          <p:cNvSpPr>
            <a:spLocks noGrp="1"/>
          </p:cNvSpPr>
          <p:nvPr>
            <p:ph idx="1"/>
          </p:nvPr>
        </p:nvSpPr>
        <p:spPr/>
        <p:txBody>
          <a:bodyPr/>
          <a:lstStyle/>
          <a:p>
            <a:pPr marL="0" indent="0" algn="r" rtl="1">
              <a:buNone/>
            </a:pPr>
            <a:r>
              <a:rPr lang="fa-IR" dirty="0" smtClean="0"/>
              <a:t>مضاد استطباب:</a:t>
            </a:r>
          </a:p>
          <a:p>
            <a:pPr marL="0" indent="0" algn="r" rtl="1">
              <a:buNone/>
            </a:pPr>
            <a:r>
              <a:rPr lang="fa-IR" dirty="0" smtClean="0"/>
              <a:t>1:درمریضان کوما</a:t>
            </a:r>
          </a:p>
          <a:p>
            <a:pPr marL="0" indent="0" algn="r" rtl="1">
              <a:buNone/>
            </a:pPr>
            <a:r>
              <a:rPr lang="fa-IR" dirty="0" smtClean="0"/>
              <a:t>2:درمریضانیکه اختلاج دارند</a:t>
            </a:r>
          </a:p>
          <a:p>
            <a:pPr marL="0" indent="0" algn="r" rtl="1">
              <a:buNone/>
            </a:pPr>
            <a:r>
              <a:rPr lang="fa-IR" dirty="0" smtClean="0"/>
              <a:t>3:درمریضان ایکه</a:t>
            </a:r>
            <a:r>
              <a:rPr lang="en-US" dirty="0" smtClean="0"/>
              <a:t>Ileus</a:t>
            </a:r>
            <a:r>
              <a:rPr lang="fa-IR" dirty="0" smtClean="0"/>
              <a:t>وانسداد دارند استطباب ندارد</a:t>
            </a:r>
          </a:p>
          <a:p>
            <a:pPr marL="0" indent="0" algn="r" rtl="1">
              <a:buNone/>
            </a:pPr>
            <a:r>
              <a:rPr lang="fa-IR" dirty="0" smtClean="0"/>
              <a:t>4:درنزد مریضان ایکه تیوب شزنی </a:t>
            </a:r>
            <a:r>
              <a:rPr lang="fa-IR" dirty="0" smtClean="0"/>
              <a:t>تطبیق </a:t>
            </a:r>
            <a:r>
              <a:rPr lang="fa-IR" dirty="0" smtClean="0"/>
              <a:t>شده باشد از این دوا استفاده شده میتواند</a:t>
            </a:r>
          </a:p>
          <a:p>
            <a:pPr marL="0" indent="0" algn="r" rtl="1">
              <a:buNone/>
            </a:pPr>
            <a:r>
              <a:rPr lang="fa-IR" dirty="0" smtClean="0"/>
              <a:t>5:درنزد مریضانیکه مواد </a:t>
            </a:r>
            <a:r>
              <a:rPr lang="en-US" dirty="0" smtClean="0"/>
              <a:t>Corrosive</a:t>
            </a:r>
            <a:r>
              <a:rPr lang="fa-IR" dirty="0" smtClean="0"/>
              <a:t> گرفته باشند وبرای اندوسکوپی آماده میشوند.</a:t>
            </a:r>
          </a:p>
          <a:p>
            <a:pPr marL="0" indent="0" algn="r" rtl="1">
              <a:buNone/>
            </a:pPr>
            <a:endParaRPr lang="en-US" dirty="0"/>
          </a:p>
        </p:txBody>
      </p:sp>
    </p:spTree>
    <p:extLst>
      <p:ext uri="{BB962C8B-B14F-4D97-AF65-F5344CB8AC3E}">
        <p14:creationId xmlns:p14="http://schemas.microsoft.com/office/powerpoint/2010/main" val="54055381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t>
            </a:r>
            <a:endParaRPr lang="en-US" dirty="0"/>
          </a:p>
        </p:txBody>
      </p:sp>
      <p:sp>
        <p:nvSpPr>
          <p:cNvPr id="3" name="Content Placeholder 2"/>
          <p:cNvSpPr>
            <a:spLocks noGrp="1"/>
          </p:cNvSpPr>
          <p:nvPr>
            <p:ph idx="1"/>
          </p:nvPr>
        </p:nvSpPr>
        <p:spPr/>
        <p:txBody>
          <a:bodyPr/>
          <a:lstStyle/>
          <a:p>
            <a:pPr marL="0" indent="0" algn="r" rtl="1">
              <a:buNone/>
            </a:pPr>
            <a:r>
              <a:rPr lang="fa-IR" dirty="0"/>
              <a:t>ب</a:t>
            </a:r>
            <a:r>
              <a:rPr lang="fa-IR" dirty="0" smtClean="0"/>
              <a:t>ه مقدار60الی100گرام بعد ازحل کردن درآب ازطریق دهن ویا تیوب معدوی تطبیق میگردد</a:t>
            </a:r>
          </a:p>
          <a:p>
            <a:pPr marL="0" indent="0" algn="r" rtl="1">
              <a:buNone/>
            </a:pPr>
            <a:r>
              <a:rPr lang="fa-IR" dirty="0" smtClean="0"/>
              <a:t>دوز های تکراری بخاطر کم کردن جذب واطراح مواد توکسیک ضروری میباشد.</a:t>
            </a:r>
            <a:endParaRPr lang="en-US" dirty="0"/>
          </a:p>
        </p:txBody>
      </p:sp>
    </p:spTree>
    <p:extLst>
      <p:ext uri="{BB962C8B-B14F-4D97-AF65-F5344CB8AC3E}">
        <p14:creationId xmlns:p14="http://schemas.microsoft.com/office/powerpoint/2010/main" val="26526030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Whole Bowel Irrigation</a:t>
            </a:r>
            <a:endParaRPr lang="en-US" dirty="0"/>
          </a:p>
        </p:txBody>
      </p:sp>
      <p:sp>
        <p:nvSpPr>
          <p:cNvPr id="3" name="Content Placeholder 2"/>
          <p:cNvSpPr>
            <a:spLocks noGrp="1"/>
          </p:cNvSpPr>
          <p:nvPr>
            <p:ph idx="1"/>
          </p:nvPr>
        </p:nvSpPr>
        <p:spPr/>
        <p:txBody>
          <a:bodyPr/>
          <a:lstStyle/>
          <a:p>
            <a:pPr marL="0" indent="0" algn="r" rtl="1">
              <a:buNone/>
            </a:pPr>
            <a:r>
              <a:rPr lang="en-US" dirty="0" smtClean="0"/>
              <a:t>Whole bowel irrigation</a:t>
            </a:r>
            <a:r>
              <a:rPr lang="fa-IR" dirty="0" smtClean="0"/>
              <a:t>توسط</a:t>
            </a:r>
            <a:r>
              <a:rPr lang="en-US" dirty="0" err="1" smtClean="0"/>
              <a:t>Polyethelin</a:t>
            </a:r>
            <a:r>
              <a:rPr lang="en-US" dirty="0" smtClean="0"/>
              <a:t> glycol  </a:t>
            </a:r>
            <a:r>
              <a:rPr lang="en-US" dirty="0" err="1" smtClean="0"/>
              <a:t>electrolyt</a:t>
            </a:r>
            <a:r>
              <a:rPr lang="fa-IR" dirty="0" smtClean="0"/>
              <a:t>بیلانس شده بصورت میخانیکی غرض پاک سازی جهاز هضمی از مواد زهری بکار میرود</a:t>
            </a:r>
          </a:p>
          <a:p>
            <a:pPr marL="0" indent="0" algn="r" rtl="1">
              <a:buNone/>
            </a:pPr>
            <a:r>
              <a:rPr lang="fa-IR" dirty="0" smtClean="0"/>
              <a:t>استطباب:1:درنزد مریضان تسمم آهن که در معاینه التراسوند تابلیت های آن تشخیص شده باشد</a:t>
            </a:r>
          </a:p>
          <a:p>
            <a:pPr marL="0" indent="0" algn="r" rtl="1">
              <a:buNone/>
            </a:pPr>
            <a:r>
              <a:rPr lang="fa-IR" dirty="0" smtClean="0"/>
              <a:t>تسمم </a:t>
            </a:r>
            <a:r>
              <a:rPr lang="en-US" dirty="0" err="1" smtClean="0"/>
              <a:t>Lithum</a:t>
            </a:r>
            <a:r>
              <a:rPr lang="fa-IR" dirty="0" smtClean="0"/>
              <a:t>وتابلیت هایکه</a:t>
            </a:r>
            <a:r>
              <a:rPr lang="en-US" dirty="0" smtClean="0"/>
              <a:t>Sustain </a:t>
            </a:r>
            <a:r>
              <a:rPr lang="en-US" dirty="0" err="1" smtClean="0"/>
              <a:t>releas</a:t>
            </a:r>
            <a:r>
              <a:rPr lang="fa-IR" dirty="0" smtClean="0"/>
              <a:t>وتابلیت های ایکه درپوش استند</a:t>
            </a:r>
          </a:p>
          <a:p>
            <a:pPr marL="0" indent="0" algn="r" rtl="1">
              <a:buNone/>
            </a:pPr>
            <a:endParaRPr lang="en-US" dirty="0"/>
          </a:p>
        </p:txBody>
      </p:sp>
    </p:spTree>
    <p:extLst>
      <p:ext uri="{BB962C8B-B14F-4D97-AF65-F5344CB8AC3E}">
        <p14:creationId xmlns:p14="http://schemas.microsoft.com/office/powerpoint/2010/main" val="77255558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مضاد استطباب</a:t>
            </a:r>
            <a:endParaRPr lang="en-US" dirty="0"/>
          </a:p>
        </p:txBody>
      </p:sp>
      <p:sp>
        <p:nvSpPr>
          <p:cNvPr id="3" name="Content Placeholder 2"/>
          <p:cNvSpPr>
            <a:spLocks noGrp="1"/>
          </p:cNvSpPr>
          <p:nvPr>
            <p:ph idx="1"/>
          </p:nvPr>
        </p:nvSpPr>
        <p:spPr/>
        <p:txBody>
          <a:bodyPr/>
          <a:lstStyle/>
          <a:p>
            <a:pPr marL="0" indent="0" algn="r" rtl="1">
              <a:buNone/>
            </a:pPr>
            <a:r>
              <a:rPr lang="fa-IR" dirty="0" smtClean="0"/>
              <a:t>1:در نزد مریضانیکه انسداد امعا دارند</a:t>
            </a:r>
          </a:p>
          <a:p>
            <a:pPr marL="0" indent="0" algn="r" rtl="1">
              <a:buNone/>
            </a:pPr>
            <a:r>
              <a:rPr lang="fa-IR" dirty="0" smtClean="0"/>
              <a:t>2:در نزد مریضانیکه ضیاع شعورویاتشوش تنفسی دارند</a:t>
            </a:r>
          </a:p>
          <a:p>
            <a:pPr marL="0" indent="0" algn="r" rtl="1">
              <a:buNone/>
            </a:pPr>
            <a:r>
              <a:rPr lang="fa-IR" dirty="0"/>
              <a:t> </a:t>
            </a:r>
            <a:r>
              <a:rPr lang="fa-IR" dirty="0" smtClean="0"/>
              <a:t>      تخنیک تطبیق:ازطریق تیوب فمی محلول تهیه شده </a:t>
            </a:r>
          </a:p>
          <a:p>
            <a:pPr marL="0" indent="0" algn="r" rtl="1">
              <a:buNone/>
            </a:pPr>
            <a:r>
              <a:rPr lang="fa-IR" dirty="0"/>
              <a:t> </a:t>
            </a:r>
            <a:r>
              <a:rPr lang="fa-IR" dirty="0" smtClean="0"/>
              <a:t>                                      درمعده به سرعت2-1لیتردرساعت تطبیق میشود تازمانیکه محتویات مقعدی ازمواد توکسیک پاک شوداین پروسه ممکن ساعت ها طول بکشد وبهتر این است که کمود برای مریض نزدیک باشد تا مواد غایطه خود راتخلیه کرده بتواند.</a:t>
            </a:r>
          </a:p>
          <a:p>
            <a:pPr marL="0" indent="0" algn="r" rtl="1">
              <a:buNone/>
            </a:pPr>
            <a:endParaRPr lang="fa-IR" dirty="0"/>
          </a:p>
          <a:p>
            <a:pPr marL="0" indent="0" algn="r" rtl="1">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3276600"/>
            <a:ext cx="37623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942404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Increased Drug removal</a:t>
            </a:r>
            <a:br>
              <a:rPr lang="en-US" dirty="0" smtClean="0"/>
            </a:br>
            <a:r>
              <a:rPr lang="en-US" dirty="0" smtClean="0"/>
              <a:t>Urinary manipulation</a:t>
            </a:r>
            <a:endParaRPr lang="en-US" dirty="0"/>
          </a:p>
        </p:txBody>
      </p:sp>
      <p:sp>
        <p:nvSpPr>
          <p:cNvPr id="3" name="Content Placeholder 2"/>
          <p:cNvSpPr>
            <a:spLocks noGrp="1"/>
          </p:cNvSpPr>
          <p:nvPr>
            <p:ph idx="1"/>
          </p:nvPr>
        </p:nvSpPr>
        <p:spPr/>
        <p:txBody>
          <a:bodyPr>
            <a:normAutofit fontScale="92500" lnSpcReduction="10000"/>
          </a:bodyPr>
          <a:lstStyle/>
          <a:p>
            <a:pPr marL="0" indent="0" algn="r" rtl="1">
              <a:buNone/>
            </a:pPr>
            <a:r>
              <a:rPr lang="fa-IR" dirty="0" smtClean="0"/>
              <a:t>دیوریزبیش از حد برای مریض آزاردهنده واختلاطی میباشد وسبب کم شدن حجم مایعات وتشوشات الکترولیت ها میشود</a:t>
            </a:r>
          </a:p>
          <a:p>
            <a:pPr marL="0" indent="0" algn="r" rtl="1">
              <a:buNone/>
            </a:pPr>
            <a:r>
              <a:rPr lang="fa-IR" dirty="0" smtClean="0"/>
              <a:t>اما در تسممات ناشی ازسالیسلات ها وفینوباربیتول ها با قلوی ساختن ادرار خروج دوا از بدن بهتر میشود.</a:t>
            </a:r>
          </a:p>
          <a:p>
            <a:pPr marL="0" indent="0" algn="r" rtl="1">
              <a:buNone/>
            </a:pPr>
            <a:r>
              <a:rPr lang="fa-IR" dirty="0" smtClean="0"/>
              <a:t>برای اجرای این عملیه </a:t>
            </a:r>
            <a:r>
              <a:rPr lang="en-US" dirty="0" smtClean="0"/>
              <a:t>100meq</a:t>
            </a:r>
            <a:r>
              <a:rPr lang="fa-IR" dirty="0" smtClean="0"/>
              <a:t>ازسودیم بیکاربونات با سیروم گلوکوز%5وسالین0,225فیصدیکجا وبه سرعت </a:t>
            </a:r>
            <a:r>
              <a:rPr lang="en-US" dirty="0" smtClean="0"/>
              <a:t>150-200ml/h</a:t>
            </a:r>
            <a:r>
              <a:rPr lang="fa-IR" dirty="0" smtClean="0"/>
              <a:t>جهت قلوی ساختن ادرار استفاده میشود.</a:t>
            </a:r>
          </a:p>
          <a:p>
            <a:pPr marL="0" indent="0" algn="r" rtl="1">
              <a:buNone/>
            </a:pPr>
            <a:r>
              <a:rPr lang="fa-IR" dirty="0" smtClean="0"/>
              <a:t>جهت اسیدی ساختن ادراردربعضی ازتسممات مثلا امفتامین و</a:t>
            </a:r>
            <a:r>
              <a:rPr lang="en-US" dirty="0" err="1" smtClean="0"/>
              <a:t>Phencyclidin</a:t>
            </a:r>
            <a:r>
              <a:rPr lang="fa-IR" dirty="0" smtClean="0"/>
              <a:t>کدام موثریتی ندارد ودرنزد مریضان   </a:t>
            </a:r>
            <a:r>
              <a:rPr lang="en-US" dirty="0" err="1" smtClean="0"/>
              <a:t>rhabdomyolysis</a:t>
            </a:r>
            <a:r>
              <a:rPr lang="fa-IR" dirty="0" smtClean="0"/>
              <a:t>و</a:t>
            </a:r>
            <a:r>
              <a:rPr lang="en-US" dirty="0" err="1" smtClean="0"/>
              <a:t>myoglubinurea</a:t>
            </a:r>
            <a:r>
              <a:rPr lang="fa-IR" dirty="0" smtClean="0"/>
              <a:t>مضاد استطباب میباشد.</a:t>
            </a:r>
            <a:endParaRPr lang="en-US" dirty="0"/>
          </a:p>
        </p:txBody>
      </p:sp>
    </p:spTree>
    <p:extLst>
      <p:ext uri="{BB962C8B-B14F-4D97-AF65-F5344CB8AC3E}">
        <p14:creationId xmlns:p14="http://schemas.microsoft.com/office/powerpoint/2010/main" val="91410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Hemodialysis</a:t>
            </a:r>
            <a:endParaRPr lang="en-US" dirty="0"/>
          </a:p>
        </p:txBody>
      </p:sp>
      <p:sp>
        <p:nvSpPr>
          <p:cNvPr id="3" name="Content Placeholder 2"/>
          <p:cNvSpPr>
            <a:spLocks noGrp="1"/>
          </p:cNvSpPr>
          <p:nvPr>
            <p:ph idx="1"/>
          </p:nvPr>
        </p:nvSpPr>
        <p:spPr/>
        <p:txBody>
          <a:bodyPr>
            <a:normAutofit lnSpcReduction="10000"/>
          </a:bodyPr>
          <a:lstStyle/>
          <a:p>
            <a:pPr marL="0" indent="0" algn="r" rtl="1">
              <a:buNone/>
            </a:pPr>
            <a:r>
              <a:rPr lang="fa-IR" dirty="0" smtClean="0"/>
              <a:t>مریضان تسمم وتسمم دوائی ذیل ایجاب دیالیزرامینماید:</a:t>
            </a:r>
          </a:p>
          <a:p>
            <a:pPr marL="0" indent="0" algn="r" rtl="1">
              <a:buNone/>
            </a:pPr>
            <a:r>
              <a:rPr lang="fa-IR" dirty="0" smtClean="0"/>
              <a:t>1مریضانیکه دوز کشنده دوارا اخذ نموده وتوکسین ویا دوا قابلیت تداوی با دیالیز را داشته باشد.</a:t>
            </a:r>
          </a:p>
          <a:p>
            <a:pPr marL="0" indent="0" algn="r" rtl="1">
              <a:buNone/>
            </a:pPr>
            <a:r>
              <a:rPr lang="fa-IR" dirty="0" smtClean="0"/>
              <a:t>2:مریضانیکه درحالت کومای عمیق,</a:t>
            </a:r>
            <a:r>
              <a:rPr lang="en-US" dirty="0" smtClean="0"/>
              <a:t>Apnea</a:t>
            </a:r>
            <a:r>
              <a:rPr lang="fa-IR" dirty="0" smtClean="0"/>
              <a:t> تشوش شدید اسید وقلوی داشته باشند,تفریط فشار خون شدید داشته باشند</a:t>
            </a:r>
          </a:p>
          <a:p>
            <a:pPr marL="0" indent="0" algn="r" rtl="1">
              <a:buNone/>
            </a:pPr>
            <a:r>
              <a:rPr lang="fa-IR" dirty="0" smtClean="0"/>
              <a:t>ویابصورت وسیع دردرجه حرارت بدن شان تغیرات بوجود آمده باشد وباتداوی جواب نگویند.</a:t>
            </a:r>
          </a:p>
          <a:p>
            <a:pPr marL="0" indent="0" algn="r" rtl="1">
              <a:buNone/>
            </a:pPr>
            <a:r>
              <a:rPr lang="fa-IR" dirty="0" smtClean="0"/>
              <a:t>3:مریضانیکه آفات شدیدکلیوی ,قلبی,تنفسی وکبدی داشته وقادربه اطراح دوا از طریق طبیعی نداشته باشند.</a:t>
            </a:r>
            <a:endParaRPr lang="en-US" dirty="0"/>
          </a:p>
        </p:txBody>
      </p:sp>
    </p:spTree>
    <p:extLst>
      <p:ext uri="{BB962C8B-B14F-4D97-AF65-F5344CB8AC3E}">
        <p14:creationId xmlns:p14="http://schemas.microsoft.com/office/powerpoint/2010/main" val="38200882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685800"/>
            <a:ext cx="6172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62000" y="1371600"/>
            <a:ext cx="7696199"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885851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Repeat dose of charcoal</a:t>
            </a:r>
            <a:endParaRPr lang="en-US" dirty="0"/>
          </a:p>
        </p:txBody>
      </p:sp>
      <p:sp>
        <p:nvSpPr>
          <p:cNvPr id="3" name="Content Placeholder 2"/>
          <p:cNvSpPr>
            <a:spLocks noGrp="1"/>
          </p:cNvSpPr>
          <p:nvPr>
            <p:ph idx="1"/>
          </p:nvPr>
        </p:nvSpPr>
        <p:spPr/>
        <p:txBody>
          <a:bodyPr>
            <a:normAutofit/>
          </a:bodyPr>
          <a:lstStyle/>
          <a:p>
            <a:pPr marL="0" indent="0" algn="r" rtl="1">
              <a:buNone/>
            </a:pPr>
            <a:r>
              <a:rPr lang="fa-IR" sz="2800" dirty="0" smtClean="0"/>
              <a:t>دوزتعقیبیه کاربن به مقدار</a:t>
            </a:r>
            <a:r>
              <a:rPr lang="en-US" sz="2800" dirty="0" smtClean="0"/>
              <a:t>20-30gr</a:t>
            </a:r>
            <a:r>
              <a:rPr lang="fa-IR" sz="2800" dirty="0" smtClean="0"/>
              <a:t>از طریق فمی هر3-4  ساعت بعد از طریق دهن ویا ازطریق تیوب معدوی درقسمت جذب وخارج کردن بعضی از توکسین ها ودواها از قبیل </a:t>
            </a:r>
          </a:p>
          <a:p>
            <a:pPr marL="0" indent="0" algn="r" rtl="1">
              <a:buNone/>
            </a:pPr>
            <a:r>
              <a:rPr lang="en-US" sz="2800" dirty="0" smtClean="0"/>
              <a:t>(</a:t>
            </a:r>
            <a:r>
              <a:rPr lang="en-US" sz="2800" dirty="0" err="1" smtClean="0"/>
              <a:t>Phenitoin,Carbamazipine,Dapsone</a:t>
            </a:r>
            <a:r>
              <a:rPr lang="en-US" sz="2800" dirty="0" smtClean="0"/>
              <a:t>)</a:t>
            </a:r>
            <a:r>
              <a:rPr lang="fa-IR" sz="2800" dirty="0" smtClean="0"/>
              <a:t> باجذب کردن سم یادوا وخارج کردن آن در امعا کمک میکند</a:t>
            </a:r>
            <a:r>
              <a:rPr lang="en-US" sz="2800" dirty="0" smtClean="0"/>
              <a:t>(gut dialysis)</a:t>
            </a:r>
            <a:endParaRPr lang="fa-IR" sz="2800" dirty="0" smtClean="0"/>
          </a:p>
          <a:p>
            <a:pPr marL="0" indent="0" algn="r" rtl="1">
              <a:buNone/>
            </a:pPr>
            <a:r>
              <a:rPr lang="fa-IR" sz="2800" dirty="0" smtClean="0"/>
              <a:t>ولی مطالعات کلینیکی ازتطبیق دوز های تکراری کاربن کدام نتیجه خوب بدست نیاورده اند</a:t>
            </a:r>
          </a:p>
          <a:p>
            <a:pPr marL="0" indent="0" algn="r" rtl="1">
              <a:buNone/>
            </a:pPr>
            <a:r>
              <a:rPr lang="fa-IR" sz="2800" dirty="0" smtClean="0"/>
              <a:t>استفاده از سوربیتول ودیگرمسهلات درنزدمریضان تسمم زیادترموثرنبوده وسبب </a:t>
            </a:r>
            <a:r>
              <a:rPr lang="en-US" sz="2800" dirty="0" smtClean="0"/>
              <a:t>Dehydration</a:t>
            </a:r>
            <a:r>
              <a:rPr lang="fa-IR" sz="2800" dirty="0" smtClean="0"/>
              <a:t>و</a:t>
            </a:r>
            <a:r>
              <a:rPr lang="en-US" sz="2800" dirty="0" err="1" smtClean="0"/>
              <a:t>Hyponatremia</a:t>
            </a:r>
            <a:r>
              <a:rPr lang="fa-IR" sz="2800" dirty="0" smtClean="0"/>
              <a:t>میشود.</a:t>
            </a:r>
            <a:endParaRPr lang="en-US" sz="2800" dirty="0"/>
          </a:p>
        </p:txBody>
      </p:sp>
    </p:spTree>
    <p:extLst>
      <p:ext uri="{BB962C8B-B14F-4D97-AF65-F5344CB8AC3E}">
        <p14:creationId xmlns:p14="http://schemas.microsoft.com/office/powerpoint/2010/main" val="11405591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758042697"/>
              </p:ext>
            </p:extLst>
          </p:nvPr>
        </p:nvGraphicFramePr>
        <p:xfrm>
          <a:off x="2919413" y="3086100"/>
          <a:ext cx="3305175" cy="685800"/>
        </p:xfrm>
        <a:graphic>
          <a:graphicData uri="http://schemas.openxmlformats.org/presentationml/2006/ole">
            <mc:AlternateContent xmlns:mc="http://schemas.openxmlformats.org/markup-compatibility/2006">
              <mc:Choice xmlns:v="urn:schemas-microsoft-com:vml" Requires="v">
                <p:oleObj spid="_x0000_s1055" name="Packager Shell Object" showAsIcon="1" r:id="rId3" imgW="3305160" imgH="685440" progId="Package">
                  <p:embed/>
                </p:oleObj>
              </mc:Choice>
              <mc:Fallback>
                <p:oleObj name="Packager Shell Object" showAsIcon="1" r:id="rId3" imgW="3305160" imgH="685440" progId="Package">
                  <p:embed/>
                  <p:pic>
                    <p:nvPicPr>
                      <p:cNvPr id="0" name=""/>
                      <p:cNvPicPr/>
                      <p:nvPr/>
                    </p:nvPicPr>
                    <p:blipFill>
                      <a:blip r:embed="rId4"/>
                      <a:stretch>
                        <a:fillRect/>
                      </a:stretch>
                    </p:blipFill>
                    <p:spPr>
                      <a:xfrm>
                        <a:off x="2919413" y="3086100"/>
                        <a:ext cx="3305175" cy="685800"/>
                      </a:xfrm>
                      <a:prstGeom prst="rect">
                        <a:avLst/>
                      </a:prstGeom>
                    </p:spPr>
                  </p:pic>
                </p:oleObj>
              </mc:Fallback>
            </mc:AlternateContent>
          </a:graphicData>
        </a:graphic>
      </p:graphicFrame>
    </p:spTree>
    <p:extLst>
      <p:ext uri="{BB962C8B-B14F-4D97-AF65-F5344CB8AC3E}">
        <p14:creationId xmlns:p14="http://schemas.microsoft.com/office/powerpoint/2010/main" val="20087473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a:p>
          <a:p>
            <a:pPr marL="0" indent="0" algn="ctr">
              <a:buNone/>
            </a:pPr>
            <a:r>
              <a:rPr lang="fa-IR" sz="9600" dirty="0" smtClean="0"/>
              <a:t>ومن الله التوفیق</a:t>
            </a:r>
            <a:endParaRPr lang="en-US" sz="9600" dirty="0"/>
          </a:p>
        </p:txBody>
      </p:sp>
    </p:spTree>
    <p:extLst>
      <p:ext uri="{BB962C8B-B14F-4D97-AF65-F5344CB8AC3E}">
        <p14:creationId xmlns:p14="http://schemas.microsoft.com/office/powerpoint/2010/main" val="42106954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913</TotalTime>
  <Words>2511</Words>
  <Application>Microsoft Office PowerPoint</Application>
  <PresentationFormat>On-screen Show (4:3)</PresentationFormat>
  <Paragraphs>232</Paragraphs>
  <Slides>54</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56" baseType="lpstr">
      <vt:lpstr>Office Theme</vt:lpstr>
      <vt:lpstr>Packager Shell Object</vt:lpstr>
      <vt:lpstr>موضوع کنفرانس:اهتمامات ابتدائی نزد مریضان تسممات وDrug overdosage</vt:lpstr>
      <vt:lpstr>.</vt:lpstr>
      <vt:lpstr> :اهتمامات ابتدائی نزدمریضان تسمم وتسمم دوائی</vt:lpstr>
      <vt:lpstr>ادامه</vt:lpstr>
      <vt:lpstr>ن</vt:lpstr>
      <vt:lpstr>PowerPoint Presentation</vt:lpstr>
      <vt:lpstr>ت</vt:lpstr>
      <vt:lpstr>PowerPoint Presentation</vt:lpstr>
      <vt:lpstr>مهمترین علت مرگ نزدمریضان کوما </vt:lpstr>
      <vt:lpstr>PowerPoint Presentation</vt:lpstr>
      <vt:lpstr>Airway</vt:lpstr>
      <vt:lpstr>Breathing</vt:lpstr>
      <vt:lpstr>PowerPoint Presentation</vt:lpstr>
      <vt:lpstr>4Drug</vt:lpstr>
      <vt:lpstr>Hypothermia Assessment and complication</vt:lpstr>
      <vt:lpstr>Hypotension Assessment and complication</vt:lpstr>
      <vt:lpstr>Treatment</vt:lpstr>
      <vt:lpstr>ادامه</vt:lpstr>
      <vt:lpstr>ادامه</vt:lpstr>
      <vt:lpstr>Hypertension Assessment and Complicatio</vt:lpstr>
      <vt:lpstr>Treatment</vt:lpstr>
      <vt:lpstr>ادامه</vt:lpstr>
      <vt:lpstr>Arrythmia Assessment and Complication</vt:lpstr>
      <vt:lpstr>ادامه</vt:lpstr>
      <vt:lpstr>تداوی</vt:lpstr>
      <vt:lpstr>ادامه</vt:lpstr>
      <vt:lpstr>Seizure Assessment and complication</vt:lpstr>
      <vt:lpstr>ادامه</vt:lpstr>
      <vt:lpstr>تداوی</vt:lpstr>
      <vt:lpstr>PowerPoint Presentation</vt:lpstr>
      <vt:lpstr>Hyperthermia Assessment and Complication</vt:lpstr>
      <vt:lpstr>ادامه</vt:lpstr>
      <vt:lpstr>تداوی</vt:lpstr>
      <vt:lpstr>ادامه</vt:lpstr>
      <vt:lpstr>ادامه</vt:lpstr>
      <vt:lpstr>Antidotes and other Treatment Antidotes</vt:lpstr>
      <vt:lpstr>PowerPoint Presentation</vt:lpstr>
      <vt:lpstr>Decontaminatio of the Skin</vt:lpstr>
      <vt:lpstr>ادامه</vt:lpstr>
      <vt:lpstr>Decontamination of the Eye</vt:lpstr>
      <vt:lpstr>ادامه</vt:lpstr>
      <vt:lpstr>Gastrointestinal  decontamination</vt:lpstr>
      <vt:lpstr>ادامه </vt:lpstr>
      <vt:lpstr>Activated charcoal</vt:lpstr>
      <vt:lpstr>ادامه</vt:lpstr>
      <vt:lpstr>Technic</vt:lpstr>
      <vt:lpstr>Whole Bowel Irrigation</vt:lpstr>
      <vt:lpstr>مضاد استطباب</vt:lpstr>
      <vt:lpstr>Increased Drug removal Urinary manipulation</vt:lpstr>
      <vt:lpstr>Hemodialysis</vt:lpstr>
      <vt:lpstr>PowerPoint Presentation</vt:lpstr>
      <vt:lpstr>Repeat dose of charcoal</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Welcome</dc:creator>
  <cp:lastModifiedBy>Welcome</cp:lastModifiedBy>
  <cp:revision>133</cp:revision>
  <dcterms:created xsi:type="dcterms:W3CDTF">2021-04-05T03:24:40Z</dcterms:created>
  <dcterms:modified xsi:type="dcterms:W3CDTF">2026-07-01T07:09:38Z</dcterms:modified>
</cp:coreProperties>
</file>