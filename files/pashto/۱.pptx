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4" r:id="rId6"/>
    <p:sldId id="265" r:id="rId7"/>
    <p:sldId id="261" r:id="rId8"/>
    <p:sldId id="263"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2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8/16/2026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9025" y="624110"/>
            <a:ext cx="8911687" cy="849090"/>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rtl="1"/>
            <a:r>
              <a:rPr lang="ps-AF" sz="6000" b="1" dirty="0">
                <a:latin typeface="Bahij Badr" panose="02040503050201020203" pitchFamily="18" charset="-78"/>
                <a:cs typeface="Bahij Badr" panose="02040503050201020203" pitchFamily="18" charset="-78"/>
              </a:rPr>
              <a:t>لومړی لوست</a:t>
            </a:r>
            <a:br>
              <a:rPr lang="en-US" dirty="0">
                <a:latin typeface="Bahij Badr" panose="02040503050201020203" pitchFamily="18" charset="-78"/>
                <a:cs typeface="Bahij Badr" panose="02040503050201020203" pitchFamily="18" charset="-78"/>
              </a:rPr>
            </a:br>
            <a:endParaRPr lang="en-US" dirty="0">
              <a:latin typeface="Bahij Badr" panose="02040503050201020203" pitchFamily="18" charset="-78"/>
              <a:cs typeface="Bahij Badr" panose="02040503050201020203" pitchFamily="18" charset="-78"/>
            </a:endParaRPr>
          </a:p>
        </p:txBody>
      </p:sp>
      <p:sp>
        <p:nvSpPr>
          <p:cNvPr id="3" name="Content Placeholder 2"/>
          <p:cNvSpPr>
            <a:spLocks noGrp="1"/>
          </p:cNvSpPr>
          <p:nvPr>
            <p:ph idx="1"/>
          </p:nvPr>
        </p:nvSpPr>
        <p:spPr/>
        <p:txBody>
          <a:bodyPr>
            <a:normAutofit/>
          </a:bodyPr>
          <a:lstStyle/>
          <a:p>
            <a:pPr marL="0" indent="0" algn="just" rtl="1">
              <a:buNone/>
            </a:pPr>
            <a:r>
              <a:rPr lang="ps-AF" sz="3200" dirty="0">
                <a:solidFill>
                  <a:schemeClr val="tx1"/>
                </a:solidFill>
                <a:latin typeface="Bahij Nazanin" panose="02040503050201020203" pitchFamily="18" charset="-78"/>
                <a:cs typeface="Bahij Nazanin" panose="02040503050201020203" pitchFamily="18" charset="-78"/>
              </a:rPr>
              <a:t>دلته په لاندې موضوعاتو بحث شوی دی:</a:t>
            </a:r>
            <a:endParaRPr lang="en-US" sz="3200" dirty="0">
              <a:solidFill>
                <a:schemeClr val="tx1"/>
              </a:solidFill>
              <a:latin typeface="Bahij Nazanin" panose="02040503050201020203" pitchFamily="18" charset="-78"/>
              <a:cs typeface="Bahij Nazanin" panose="02040503050201020203" pitchFamily="18" charset="-78"/>
            </a:endParaRP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لیکوالي څه ده؟</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د لیکوالۍ ارزښت څه دی؟</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د اسلام له نظره د لیکوالۍ ارزښت </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د یوه مسلمان لیکوال مسؤولیتونه </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د لیکنې د بهیر پیل او د لیکنې پړاوونه</a:t>
            </a:r>
          </a:p>
        </p:txBody>
      </p:sp>
    </p:spTree>
    <p:extLst>
      <p:ext uri="{BB962C8B-B14F-4D97-AF65-F5344CB8AC3E}">
        <p14:creationId xmlns:p14="http://schemas.microsoft.com/office/powerpoint/2010/main" val="1559387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5400" y="662210"/>
            <a:ext cx="8724900" cy="658590"/>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rtl="1"/>
            <a:r>
              <a:rPr lang="ps-AF" sz="4000" b="1" dirty="0">
                <a:latin typeface="Bahij Badr" panose="02040503050201020203" pitchFamily="18" charset="-78"/>
                <a:cs typeface="Bahij Badr" panose="02040503050201020203" pitchFamily="18" charset="-78"/>
              </a:rPr>
              <a:t>لیکوالي څه ده؟</a:t>
            </a:r>
            <a:endParaRPr lang="en-US" sz="4000" dirty="0">
              <a:latin typeface="Bahij Badr" panose="02040503050201020203" pitchFamily="18" charset="-78"/>
              <a:cs typeface="Bahij Badr" panose="02040503050201020203" pitchFamily="18" charset="-78"/>
            </a:endParaRPr>
          </a:p>
        </p:txBody>
      </p:sp>
      <p:sp>
        <p:nvSpPr>
          <p:cNvPr id="3" name="Content Placeholder 2"/>
          <p:cNvSpPr>
            <a:spLocks noGrp="1"/>
          </p:cNvSpPr>
          <p:nvPr>
            <p:ph idx="1"/>
          </p:nvPr>
        </p:nvSpPr>
        <p:spPr>
          <a:xfrm>
            <a:off x="2857500" y="1676400"/>
            <a:ext cx="8824912" cy="3365500"/>
          </a:xfrm>
        </p:spPr>
        <p:txBody>
          <a:bodyPr>
            <a:normAutofit/>
          </a:bodyPr>
          <a:lstStyle/>
          <a:p>
            <a:pPr algn="just" rtl="1"/>
            <a:r>
              <a:rPr lang="ps-AF" sz="3200" dirty="0">
                <a:solidFill>
                  <a:schemeClr val="tx1"/>
                </a:solidFill>
                <a:latin typeface="Bahij Nazanin" panose="02040503050201020203" pitchFamily="18" charset="-78"/>
                <a:cs typeface="Bahij Nazanin" panose="02040503050201020203" pitchFamily="18" charset="-78"/>
              </a:rPr>
              <a:t>په لیکنۍ ژبه د خپلو افکارو، نظریو، احساساتو او اطلاعاتو بیانول دي.</a:t>
            </a:r>
          </a:p>
          <a:p>
            <a:pPr algn="just" rtl="1"/>
            <a:r>
              <a:rPr lang="ps-AF" sz="3200" dirty="0">
                <a:solidFill>
                  <a:schemeClr val="tx1"/>
                </a:solidFill>
                <a:latin typeface="Bahij Nazanin" panose="02040503050201020203" pitchFamily="18" charset="-78"/>
                <a:cs typeface="Bahij Nazanin" panose="02040503050201020203" pitchFamily="18" charset="-78"/>
              </a:rPr>
              <a:t> دا د ارتباطاتو یوه بڼه ده، چې په مرسته یې انسانان خپل پیغامونه یو بل ته انتقالوي، خپل داستانونه او کیسه بیانوي، خپلې پوهې او تجربې له نورو سره شریکوي.</a:t>
            </a:r>
            <a:endParaRPr lang="en-US" sz="3200" dirty="0">
              <a:solidFill>
                <a:schemeClr val="tx1"/>
              </a:solidFill>
              <a:latin typeface="Bahij Nazanin" panose="02040503050201020203" pitchFamily="18" charset="-78"/>
              <a:cs typeface="Bahij Nazanin" panose="02040503050201020203" pitchFamily="18" charset="-78"/>
            </a:endParaRPr>
          </a:p>
          <a:p>
            <a:pPr algn="just" rtl="1"/>
            <a:endParaRPr lang="en-US" sz="2400" dirty="0">
              <a:solidFill>
                <a:schemeClr val="tx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299315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3400" y="1625600"/>
            <a:ext cx="9701212" cy="3683000"/>
          </a:xfrm>
        </p:spPr>
        <p:txBody>
          <a:bodyPr>
            <a:normAutofit/>
          </a:bodyPr>
          <a:lstStyle/>
          <a:p>
            <a:pPr marL="0" indent="0" algn="just" rtl="1">
              <a:buNone/>
            </a:pPr>
            <a:r>
              <a:rPr lang="ps-AF" sz="2800" dirty="0">
                <a:latin typeface="Bahij Nazanin" panose="02040503050201020203" pitchFamily="18" charset="-78"/>
                <a:cs typeface="Bahij Nazanin" panose="02040503050201020203" pitchFamily="18" charset="-78"/>
              </a:rPr>
              <a:t>نړۍ هغه وخت پرمختګ وکړ، چې انسانانو له یو بل سره خپلې تجربې شریکې کړې؛ خو د انسان پرمختګ بیا هغه وخت پیل شوی دی، چې ژبه یې زده کړې ده. هغه وخت یې ژبه په یوه مهم مهارت بدله شوه او انساني ژوند ته یې نوی رنګ ورکړ چې ژبه د لیک او لوست وسیله شوه. په همدې وسیله تجربې سره شریکې شوې او دا تجربې د دې سبب شوې چې د نړۍ بڼه بدله کړي. انسانان له خاورو را پورته کړي ستورو او سپوږمۍ ته یې ورسوي. </a:t>
            </a:r>
            <a:endParaRPr lang="en-US" sz="2800" dirty="0">
              <a:solidFill>
                <a:schemeClr val="tx1"/>
              </a:solidFill>
              <a:latin typeface="Bahij Nazanin" panose="02040503050201020203" pitchFamily="18" charset="-78"/>
              <a:cs typeface="Bahij Nazanin" panose="02040503050201020203" pitchFamily="18" charset="-78"/>
            </a:endParaRPr>
          </a:p>
        </p:txBody>
      </p:sp>
      <p:sp>
        <p:nvSpPr>
          <p:cNvPr id="5" name="Title 1"/>
          <p:cNvSpPr txBox="1">
            <a:spLocks/>
          </p:cNvSpPr>
          <p:nvPr/>
        </p:nvSpPr>
        <p:spPr>
          <a:xfrm>
            <a:off x="2291556" y="493486"/>
            <a:ext cx="8724900" cy="78377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dk1"/>
                </a:solidFill>
                <a:latin typeface="+mn-lt"/>
                <a:ea typeface="+mn-ea"/>
                <a:cs typeface="+mn-cs"/>
              </a:defRPr>
            </a:lvl1pPr>
            <a:lvl2pPr eaLnBrk="1" hangingPunct="1">
              <a:defRPr>
                <a:solidFill>
                  <a:schemeClr val="dk1"/>
                </a:solidFill>
                <a:latin typeface="+mn-lt"/>
                <a:ea typeface="+mn-ea"/>
                <a:cs typeface="+mn-cs"/>
              </a:defRPr>
            </a:lvl2pPr>
            <a:lvl3pPr eaLnBrk="1" hangingPunct="1">
              <a:defRPr>
                <a:solidFill>
                  <a:schemeClr val="dk1"/>
                </a:solidFill>
                <a:latin typeface="+mn-lt"/>
                <a:ea typeface="+mn-ea"/>
                <a:cs typeface="+mn-cs"/>
              </a:defRPr>
            </a:lvl3pPr>
            <a:lvl4pPr eaLnBrk="1" hangingPunct="1">
              <a:defRPr>
                <a:solidFill>
                  <a:schemeClr val="dk1"/>
                </a:solidFill>
                <a:latin typeface="+mn-lt"/>
                <a:ea typeface="+mn-ea"/>
                <a:cs typeface="+mn-cs"/>
              </a:defRPr>
            </a:lvl4pPr>
            <a:lvl5pPr eaLnBrk="1" hangingPunct="1">
              <a:defRPr>
                <a:solidFill>
                  <a:schemeClr val="dk1"/>
                </a:solidFill>
                <a:latin typeface="+mn-lt"/>
                <a:ea typeface="+mn-ea"/>
                <a:cs typeface="+mn-cs"/>
              </a:defRPr>
            </a:lvl5pPr>
            <a:lvl6pPr eaLnBrk="1" hangingPunct="1">
              <a:defRPr>
                <a:solidFill>
                  <a:schemeClr val="dk1"/>
                </a:solidFill>
                <a:latin typeface="+mn-lt"/>
                <a:ea typeface="+mn-ea"/>
                <a:cs typeface="+mn-cs"/>
              </a:defRPr>
            </a:lvl6pPr>
            <a:lvl7pPr eaLnBrk="1" hangingPunct="1">
              <a:defRPr>
                <a:solidFill>
                  <a:schemeClr val="dk1"/>
                </a:solidFill>
                <a:latin typeface="+mn-lt"/>
                <a:ea typeface="+mn-ea"/>
                <a:cs typeface="+mn-cs"/>
              </a:defRPr>
            </a:lvl7pPr>
            <a:lvl8pPr eaLnBrk="1" hangingPunct="1">
              <a:defRPr>
                <a:solidFill>
                  <a:schemeClr val="dk1"/>
                </a:solidFill>
                <a:latin typeface="+mn-lt"/>
                <a:ea typeface="+mn-ea"/>
                <a:cs typeface="+mn-cs"/>
              </a:defRPr>
            </a:lvl8pPr>
            <a:lvl9pPr eaLnBrk="1" hangingPunct="1">
              <a:defRPr>
                <a:solidFill>
                  <a:schemeClr val="dk1"/>
                </a:solidFill>
                <a:latin typeface="+mn-lt"/>
                <a:ea typeface="+mn-ea"/>
                <a:cs typeface="+mn-cs"/>
              </a:defRPr>
            </a:lvl9pPr>
          </a:lstStyle>
          <a:p>
            <a:pPr algn="ctr" rtl="1"/>
            <a:r>
              <a:rPr lang="ps-AF" sz="4000" b="1" dirty="0">
                <a:latin typeface="Bahij Badr" panose="02040503050201020203" pitchFamily="18" charset="-78"/>
                <a:cs typeface="Bahij Badr" panose="02040503050201020203" pitchFamily="18" charset="-78"/>
              </a:rPr>
              <a:t>د لیکوالۍ ارزښت </a:t>
            </a:r>
            <a:endParaRPr lang="en-US" sz="4000" dirty="0">
              <a:latin typeface="Bahij Badr" panose="02040503050201020203" pitchFamily="18" charset="-78"/>
              <a:cs typeface="Bahij Badr" panose="02040503050201020203" pitchFamily="18" charset="-78"/>
            </a:endParaRPr>
          </a:p>
        </p:txBody>
      </p:sp>
    </p:spTree>
    <p:extLst>
      <p:ext uri="{BB962C8B-B14F-4D97-AF65-F5344CB8AC3E}">
        <p14:creationId xmlns:p14="http://schemas.microsoft.com/office/powerpoint/2010/main" val="175790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0563" y="638623"/>
            <a:ext cx="7896524" cy="658590"/>
          </a:xfrm>
        </p:spPr>
        <p:style>
          <a:lnRef idx="1">
            <a:schemeClr val="accent2"/>
          </a:lnRef>
          <a:fillRef idx="2">
            <a:schemeClr val="accent2"/>
          </a:fillRef>
          <a:effectRef idx="1">
            <a:schemeClr val="accent2"/>
          </a:effectRef>
          <a:fontRef idx="minor">
            <a:schemeClr val="dk1"/>
          </a:fontRef>
        </p:style>
        <p:txBody>
          <a:bodyPr>
            <a:noAutofit/>
          </a:bodyPr>
          <a:lstStyle/>
          <a:p>
            <a:pPr lvl="0" algn="ctr" rtl="1"/>
            <a:r>
              <a:rPr lang="ps-AF" b="1" dirty="0">
                <a:solidFill>
                  <a:schemeClr val="tx1"/>
                </a:solidFill>
                <a:latin typeface="Bahij Nazanin" panose="02040503050201020203" pitchFamily="18" charset="-78"/>
                <a:cs typeface="Bahij Nazanin" panose="02040503050201020203" pitchFamily="18" charset="-78"/>
              </a:rPr>
              <a:t>د اسلام له نظره د لیکوالۍ ارزښت </a:t>
            </a:r>
            <a:br>
              <a:rPr lang="ps-AF" sz="2800" dirty="0">
                <a:solidFill>
                  <a:schemeClr val="tx1"/>
                </a:solidFill>
                <a:latin typeface="Bahij Nazanin" panose="02040503050201020203" pitchFamily="18" charset="-78"/>
                <a:cs typeface="Bahij Nazanin" panose="02040503050201020203" pitchFamily="18" charset="-78"/>
              </a:rPr>
            </a:br>
            <a:br>
              <a:rPr lang="en-US" sz="2800" b="1" dirty="0">
                <a:latin typeface="Bahij Nazanin" panose="02040503050201020203" pitchFamily="18" charset="-78"/>
                <a:cs typeface="Bahij Nazanin" panose="02040503050201020203" pitchFamily="18" charset="-78"/>
              </a:rPr>
            </a:br>
            <a:endParaRPr lang="en-US" sz="2800"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1745342" y="1816100"/>
            <a:ext cx="9396412" cy="4279900"/>
          </a:xfrm>
        </p:spPr>
        <p:txBody>
          <a:bodyPr>
            <a:noAutofit/>
          </a:bodyPr>
          <a:lstStyle/>
          <a:p>
            <a:pPr marL="0" marR="0" indent="0" algn="just" rtl="1">
              <a:lnSpc>
                <a:spcPct val="150000"/>
              </a:lnSpc>
              <a:spcBef>
                <a:spcPts val="0"/>
              </a:spcBef>
              <a:buNone/>
            </a:pPr>
            <a:r>
              <a:rPr lang="ps-AF" sz="28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rPr>
              <a:t>الله تعالی په قرآن کریم کې ځینو څیزونو ته د بندګانو د پام ور اړولو او د اهمیت د بیانولو لپاره په هغو قسم یاد کړی، لکه شپې، ورځې، مازدیګر... دا راز الله تعالی پر قلم او هغه  څه چې قلم یې لیکي، قسم یادوي. الله تعالی فرمایي:</a:t>
            </a:r>
          </a:p>
          <a:p>
            <a:pPr marL="0" marR="0" indent="0" algn="just" rtl="1">
              <a:lnSpc>
                <a:spcPct val="150000"/>
              </a:lnSpc>
              <a:spcBef>
                <a:spcPts val="0"/>
              </a:spcBef>
              <a:buNone/>
            </a:pPr>
            <a:endParaRPr lang="en-US" sz="24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endParaRPr>
          </a:p>
          <a:p>
            <a:pPr marL="0" marR="0" indent="0" algn="ctr" rtl="1">
              <a:lnSpc>
                <a:spcPct val="150000"/>
              </a:lnSpc>
              <a:spcBef>
                <a:spcPts val="0"/>
              </a:spcBef>
              <a:buNone/>
            </a:pPr>
            <a:r>
              <a:rPr lang="en-US" sz="32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rPr>
              <a:t></a:t>
            </a:r>
            <a:r>
              <a:rPr lang="ar-SA" sz="32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ن</a:t>
            </a:r>
            <a:r>
              <a:rPr lang="ps-AF" sz="32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a:t>
            </a:r>
            <a:r>
              <a:rPr lang="ar-SA" sz="32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وَالْقَلَمِ وَمَا يَسْطُرُونَ ﴿</a:t>
            </a:r>
            <a:r>
              <a:rPr lang="fa-IR" sz="32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۱</a:t>
            </a:r>
            <a:r>
              <a:rPr lang="ar-SA" sz="32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a:t>
            </a:r>
            <a:r>
              <a:rPr lang="ar-SA"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a:t>
            </a:r>
            <a:r>
              <a:rPr lang="en-US" sz="32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rPr>
              <a:t></a:t>
            </a: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(قرآن‌کریم، القلم، آیت. ۱)</a:t>
            </a:r>
            <a:endParaRPr lang="en-US" sz="3200" dirty="0">
              <a:solidFill>
                <a:schemeClr val="tx1"/>
              </a:solidFill>
              <a:latin typeface="Times New Roman" panose="02020603050405020304" pitchFamily="18" charset="0"/>
              <a:ea typeface="Times New Roman" panose="02020603050405020304" pitchFamily="18" charset="0"/>
            </a:endParaRPr>
          </a:p>
          <a:p>
            <a:pPr marL="0" marR="0" indent="0" algn="ctr"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ژباړه: ن. او پر قلم او هغه څه قسم چې قلم یې لیکي.)</a:t>
            </a:r>
            <a:endParaRPr lang="en-US" sz="3200" dirty="0">
              <a:solidFill>
                <a:schemeClr val="tx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19468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5719"/>
          </a:xfrm>
        </p:spPr>
        <p:txBody>
          <a:bodyPr>
            <a:normAutofit/>
          </a:bodyPr>
          <a:lstStyle/>
          <a:p>
            <a:pPr algn="r" rtl="1"/>
            <a:r>
              <a:rPr lang="ps-AF" sz="4000" b="1" dirty="0">
                <a:latin typeface="Bahij Nazanin" panose="02040503050201020203" pitchFamily="18" charset="-78"/>
                <a:cs typeface="Bahij Nazanin" panose="02040503050201020203" pitchFamily="18" charset="-78"/>
              </a:rPr>
              <a:t>ادامه...</a:t>
            </a:r>
            <a:endParaRPr lang="en-US" sz="4000"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1828800" y="1523999"/>
            <a:ext cx="9675811" cy="4397830"/>
          </a:xfrm>
        </p:spPr>
        <p:txBody>
          <a:bodyPr>
            <a:normAutofit fontScale="92500"/>
          </a:bodyPr>
          <a:lstStyle/>
          <a:p>
            <a:pPr marL="0" marR="0" indent="0" algn="just" rtl="1">
              <a:lnSpc>
                <a:spcPct val="115000"/>
              </a:lnSpc>
              <a:spcBef>
                <a:spcPts val="0"/>
              </a:spcBef>
              <a:buNone/>
            </a:pPr>
            <a:r>
              <a:rPr lang="ps-AF" sz="28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rPr>
              <a:t>پر دې سربېره الله تعالی د قرآن کریم په لومړنیو آیتونو کې چې پر خپل ګران رسول (ص) یې نازل کړي دي، د لوستلو، علم او قلم یادونه کوي. الله تعالی په علق سوت کې فرمایي: </a:t>
            </a:r>
          </a:p>
          <a:p>
            <a:pPr marL="0" marR="0" indent="0" algn="ctr" rtl="1">
              <a:lnSpc>
                <a:spcPct val="115000"/>
              </a:lnSpc>
              <a:spcBef>
                <a:spcPts val="0"/>
              </a:spcBef>
              <a:buNone/>
            </a:pPr>
            <a:endParaRPr lang="ps-AF" sz="28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endParaRPr>
          </a:p>
          <a:p>
            <a:pPr marL="0" marR="0" indent="0" algn="ctr" rtl="1">
              <a:lnSpc>
                <a:spcPct val="115000"/>
              </a:lnSpc>
              <a:spcBef>
                <a:spcPts val="0"/>
              </a:spcBef>
              <a:buNone/>
            </a:pPr>
            <a:r>
              <a:rPr lang="en-US" sz="28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rPr>
              <a:t></a:t>
            </a:r>
            <a:r>
              <a:rPr lang="en-US" sz="2800" dirty="0">
                <a:solidFill>
                  <a:schemeClr val="tx1"/>
                </a:solidFill>
                <a:latin typeface="Bahij Nazanin" panose="02040503050201020203" pitchFamily="18" charset="-78"/>
                <a:ea typeface="Times New Roman" panose="02020603050405020304" pitchFamily="18" charset="0"/>
              </a:rPr>
              <a:t> </a:t>
            </a:r>
            <a:r>
              <a:rPr lang="ar-SA"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اقْرَأْ بِاسْمِ رَبِّكَ الَّذِي خَلَقَ ﴿</a:t>
            </a:r>
            <a:r>
              <a:rPr lang="fa-IR"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۱</a:t>
            </a:r>
            <a:r>
              <a:rPr lang="ar-SA"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خَلَقَ الْإِنْسَانَ مِنْ عَلَقٍ ﴿</a:t>
            </a:r>
            <a:r>
              <a:rPr lang="fa-IR"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۲</a:t>
            </a:r>
            <a:r>
              <a:rPr lang="ar-SA"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اقْرَأْ وَرَبُّكَ الْأَكْرَمُ ﴿</a:t>
            </a:r>
            <a:r>
              <a:rPr lang="fa-IR"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۳</a:t>
            </a:r>
            <a:r>
              <a:rPr lang="ar-SA"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الَّذِي عَلَّمَ بِالْقَلَمِ ﴿</a:t>
            </a:r>
            <a:r>
              <a:rPr lang="fa-IR"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۴</a:t>
            </a:r>
            <a:r>
              <a:rPr lang="ar-SA"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عَلَّمَ الْإِنْسَانَ مَا لَمْ يَعْلَمْ ﴿</a:t>
            </a:r>
            <a:r>
              <a:rPr lang="fa-IR"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۵</a:t>
            </a:r>
            <a:r>
              <a:rPr lang="ar-SA"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a:t>
            </a:r>
            <a:r>
              <a:rPr lang="en-US" sz="2800" dirty="0">
                <a:solidFill>
                  <a:schemeClr val="tx1"/>
                </a:solidFill>
                <a:latin typeface="Bahij Nazanin" panose="02040503050201020203" pitchFamily="18" charset="-78"/>
                <a:ea typeface="Times New Roman" panose="02020603050405020304" pitchFamily="18" charset="0"/>
                <a:cs typeface="Bahij Nazanin" panose="02040503050201020203" pitchFamily="18" charset="-78"/>
                <a:sym typeface="Symbol" pitchFamily="2" charset="2"/>
              </a:rPr>
              <a:t></a:t>
            </a:r>
            <a:r>
              <a:rPr lang="ps-AF" sz="28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(قرآن‌کریم، العلق، آیت. ۱- ۵)</a:t>
            </a:r>
            <a:endParaRPr lang="en-US" sz="2800" dirty="0">
              <a:solidFill>
                <a:schemeClr val="tx1"/>
              </a:solidFill>
              <a:latin typeface="Times New Roman" panose="02020603050405020304" pitchFamily="18" charset="0"/>
              <a:ea typeface="Times New Roman" panose="02020603050405020304" pitchFamily="18" charset="0"/>
            </a:endParaRPr>
          </a:p>
          <a:p>
            <a:pPr marL="0" marR="0" indent="0" algn="just" rtl="1">
              <a:lnSpc>
                <a:spcPct val="115000"/>
              </a:lnSpc>
              <a:spcBef>
                <a:spcPts val="0"/>
              </a:spcBef>
              <a:buNone/>
            </a:pPr>
            <a:r>
              <a:rPr lang="ps-AF" sz="28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a:t>
            </a:r>
            <a:r>
              <a:rPr lang="ps-AF" sz="2800" b="1"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ژباړه: </a:t>
            </a:r>
            <a:r>
              <a:rPr lang="ps-AF" sz="28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ولوله، د خپل رب په نامه سره چې پیدا کړي یې دي ( ټول مخلوقات. انسان یې له علق ( یوې ټوټې وینې) پیدا کړی دی.‌ ولوله، چې ستا رب تر ټولو ډېر کریم دی.‌ هغه رب چې په قلم سره یې علم ورکړی. انسان ته یې د هغه څه علم ورکړی، چې ده پرې علم نه درلود.‌)</a:t>
            </a:r>
            <a:endParaRPr lang="en-US" sz="2800" dirty="0">
              <a:solidFill>
                <a:schemeClr val="tx1"/>
              </a:solidFill>
              <a:latin typeface="Times New Roman" panose="02020603050405020304" pitchFamily="18" charset="0"/>
              <a:ea typeface="Times New Roman" panose="02020603050405020304" pitchFamily="18" charset="0"/>
            </a:endParaRPr>
          </a:p>
          <a:p>
            <a:pPr marL="0" indent="0">
              <a:buNone/>
            </a:pPr>
            <a:endParaRPr lang="en-US" sz="2800" dirty="0">
              <a:solidFill>
                <a:schemeClr val="tx1"/>
              </a:solidFill>
            </a:endParaRPr>
          </a:p>
        </p:txBody>
      </p:sp>
    </p:spTree>
    <p:extLst>
      <p:ext uri="{BB962C8B-B14F-4D97-AF65-F5344CB8AC3E}">
        <p14:creationId xmlns:p14="http://schemas.microsoft.com/office/powerpoint/2010/main" val="3829327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5090"/>
          </a:xfrm>
        </p:spPr>
        <p:txBody>
          <a:bodyPr>
            <a:normAutofit fontScale="90000"/>
          </a:bodyPr>
          <a:lstStyle/>
          <a:p>
            <a:pPr algn="r" rtl="1"/>
            <a:r>
              <a:rPr lang="ps-AF" sz="4000" b="1" dirty="0">
                <a:latin typeface="Bahij Nazanin" panose="02040503050201020203" pitchFamily="18" charset="-78"/>
                <a:cs typeface="Bahij Nazanin" panose="02040503050201020203" pitchFamily="18" charset="-78"/>
              </a:rPr>
              <a:t>ادامه...</a:t>
            </a:r>
            <a:endParaRPr lang="en-US" sz="4000"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211840" y="1524000"/>
            <a:ext cx="8915400" cy="4292600"/>
          </a:xfrm>
        </p:spPr>
        <p:txBody>
          <a:bodyPr>
            <a:normAutofit fontScale="77500" lnSpcReduction="20000"/>
          </a:bodyPr>
          <a:lstStyle/>
          <a:p>
            <a:pPr marL="0" marR="0" indent="0" algn="r"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د قرآن کریم ترڅنګ موږ د رسول الله (ص) په ژوند کې وینو چې لیکلو ته ارزښت ورکوي او په دې باب ډېر روایتونه هم شته. د بېلګه په توګه کله چې د بدر په غزا کې ځینې بندیان مسلمانانو ته لیک او لوست په بدل کې ازاد شول.</a:t>
            </a:r>
            <a:endParaRPr lang="en-US" sz="3200" dirty="0">
              <a:solidFill>
                <a:schemeClr val="tx1"/>
              </a:solidFill>
              <a:latin typeface="Times New Roman" panose="02020603050405020304" pitchFamily="18" charset="0"/>
              <a:ea typeface="Times New Roman" panose="02020603050405020304" pitchFamily="18" charset="0"/>
            </a:endParaRPr>
          </a:p>
          <a:p>
            <a:pPr marL="0" marR="0" indent="0" algn="just"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له بله اړخه نن ورځو چې په مختلفو علومو کې د کتابونو او اثارو لویې زېرمې لرو دا د قلم او لیکلو برکت دی. که پخوانیو علماوو او پوهانو لیکل نه کولی، نن به موږ د اسلامي او نورو علومو دومره لویې زیرمې نه لرلې.</a:t>
            </a:r>
          </a:p>
          <a:p>
            <a:pPr marL="0" marR="0" indent="0" algn="just"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یوه مشهوره عربي مقوله ده چې وایي: «</a:t>
            </a:r>
            <a:r>
              <a:rPr lang="ar-SA"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العلمُ صَیدٌ والکِتابةُ قَیْدُهُ</a:t>
            </a: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a:t>
            </a:r>
            <a:r>
              <a:rPr lang="ar-SA"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a:t>
            </a: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a:t>
            </a:r>
            <a:r>
              <a:rPr lang="ar-SA"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علم ښکار دی او لیکل یې</a:t>
            </a: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قید یا</a:t>
            </a:r>
            <a:r>
              <a:rPr lang="ar-SA"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قفس</a:t>
            </a: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 دی.)</a:t>
            </a:r>
            <a:endParaRPr lang="en-US" sz="3200" dirty="0">
              <a:solidFill>
                <a:schemeClr val="tx1"/>
              </a:solidFill>
              <a:latin typeface="Times New Roman" panose="02020603050405020304" pitchFamily="18" charset="0"/>
              <a:ea typeface="Times New Roman" panose="02020603050405020304" pitchFamily="18" charset="0"/>
            </a:endParaRPr>
          </a:p>
          <a:p>
            <a:endParaRPr lang="en-US" dirty="0">
              <a:solidFill>
                <a:schemeClr val="tx1"/>
              </a:solidFill>
            </a:endParaRPr>
          </a:p>
        </p:txBody>
      </p:sp>
    </p:spTree>
    <p:extLst>
      <p:ext uri="{BB962C8B-B14F-4D97-AF65-F5344CB8AC3E}">
        <p14:creationId xmlns:p14="http://schemas.microsoft.com/office/powerpoint/2010/main" val="2072801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34790"/>
          </a:xfrm>
        </p:spPr>
        <p:style>
          <a:lnRef idx="1">
            <a:schemeClr val="accent2"/>
          </a:lnRef>
          <a:fillRef idx="2">
            <a:schemeClr val="accent2"/>
          </a:fillRef>
          <a:effectRef idx="1">
            <a:schemeClr val="accent2"/>
          </a:effectRef>
          <a:fontRef idx="minor">
            <a:schemeClr val="dk1"/>
          </a:fontRef>
        </p:style>
        <p:txBody>
          <a:bodyPr>
            <a:noAutofit/>
          </a:bodyPr>
          <a:lstStyle/>
          <a:p>
            <a:pPr algn="ctr" rtl="1"/>
            <a:r>
              <a:rPr lang="ps-AF" sz="4000" b="1" dirty="0">
                <a:latin typeface="Bahij Nazanin" panose="02040503050201020203" pitchFamily="18" charset="-78"/>
                <a:cs typeface="Bahij Nazanin" panose="02040503050201020203" pitchFamily="18" charset="-78"/>
              </a:rPr>
              <a:t>د مسلمان لیکوال مکلفیتونه</a:t>
            </a:r>
            <a:br>
              <a:rPr lang="en-US" sz="4000" dirty="0">
                <a:latin typeface="Bahij Badr" panose="02040503050201020203" pitchFamily="18" charset="-78"/>
                <a:cs typeface="Bahij Badr" panose="02040503050201020203" pitchFamily="18" charset="-78"/>
              </a:rPr>
            </a:br>
            <a:endParaRPr lang="en-US" sz="4000" dirty="0">
              <a:latin typeface="Bahij Badr" panose="02040503050201020203" pitchFamily="18" charset="-78"/>
              <a:cs typeface="Bahij Badr" panose="02040503050201020203" pitchFamily="18" charset="-78"/>
            </a:endParaRPr>
          </a:p>
        </p:txBody>
      </p:sp>
      <p:sp>
        <p:nvSpPr>
          <p:cNvPr id="3" name="Content Placeholder 2"/>
          <p:cNvSpPr>
            <a:spLocks noGrp="1"/>
          </p:cNvSpPr>
          <p:nvPr>
            <p:ph idx="1"/>
          </p:nvPr>
        </p:nvSpPr>
        <p:spPr>
          <a:xfrm>
            <a:off x="2592924" y="1714499"/>
            <a:ext cx="8911687" cy="3829957"/>
          </a:xfrm>
        </p:spPr>
        <p:txBody>
          <a:bodyPr>
            <a:noAutofit/>
          </a:bodyPr>
          <a:lstStyle/>
          <a:p>
            <a:pPr marL="0" marR="0" indent="0" algn="just"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لیکل د خپلو دیني ارزښتونو د ترویج او خپراوي لپاره وکاروو.</a:t>
            </a:r>
            <a:endParaRPr lang="en-US" sz="3200" dirty="0">
              <a:solidFill>
                <a:schemeClr val="tx1"/>
              </a:solidFill>
              <a:latin typeface="Times New Roman" panose="02020603050405020304" pitchFamily="18" charset="0"/>
              <a:ea typeface="Times New Roman" panose="02020603050405020304" pitchFamily="18" charset="0"/>
            </a:endParaRPr>
          </a:p>
          <a:p>
            <a:pPr marL="0" marR="0" indent="0" algn="just"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مسلمانان د لوېدیځ له پراخ تبلیغاتي یرغل سره مخ دي.</a:t>
            </a:r>
            <a:endParaRPr lang="en-US" sz="3200" dirty="0">
              <a:solidFill>
                <a:schemeClr val="tx1"/>
              </a:solidFill>
              <a:latin typeface="Times New Roman" panose="02020603050405020304" pitchFamily="18" charset="0"/>
              <a:ea typeface="Times New Roman" panose="02020603050405020304" pitchFamily="18" charset="0"/>
            </a:endParaRPr>
          </a:p>
          <a:p>
            <a:pPr marL="0" marR="0" indent="0" algn="just"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یوه مهمه وسیله یې همدا لیکل او لیکوالي ده.</a:t>
            </a:r>
            <a:endParaRPr lang="en-US" sz="3200" dirty="0">
              <a:solidFill>
                <a:schemeClr val="tx1"/>
              </a:solidFill>
              <a:latin typeface="Times New Roman" panose="02020603050405020304" pitchFamily="18" charset="0"/>
              <a:ea typeface="Times New Roman" panose="02020603050405020304" pitchFamily="18" charset="0"/>
            </a:endParaRPr>
          </a:p>
          <a:p>
            <a:pPr marL="0" marR="0" indent="0" algn="just" rtl="1">
              <a:lnSpc>
                <a:spcPct val="150000"/>
              </a:lnSpc>
              <a:spcBef>
                <a:spcPts val="0"/>
              </a:spcBef>
              <a:buNone/>
            </a:pPr>
            <a:r>
              <a:rPr lang="ps-AF" sz="3200" dirty="0">
                <a:solidFill>
                  <a:schemeClr val="tx1"/>
                </a:solidFill>
                <a:latin typeface="Times New Roman" panose="02020603050405020304" pitchFamily="18" charset="0"/>
                <a:ea typeface="Times New Roman" panose="02020603050405020304" pitchFamily="18" charset="0"/>
                <a:cs typeface="Bahij Nazanin" panose="02040503050201020203" pitchFamily="18" charset="-78"/>
              </a:rPr>
              <a:t>د مسلمانانو د بېدارۍ لپاره قلم چلول.</a:t>
            </a:r>
            <a:endParaRPr lang="en-US" sz="3200" dirty="0">
              <a:solidFill>
                <a:schemeClr val="tx1"/>
              </a:solidFill>
              <a:latin typeface="Times New Roman" panose="02020603050405020304" pitchFamily="18" charset="0"/>
              <a:ea typeface="Times New Roman" panose="02020603050405020304" pitchFamily="18" charset="0"/>
            </a:endParaRPr>
          </a:p>
          <a:p>
            <a:pPr marL="0" indent="0" algn="just" rtl="1">
              <a:buNone/>
            </a:pPr>
            <a:endParaRPr lang="en-US" sz="2400" dirty="0">
              <a:solidFill>
                <a:schemeClr val="tx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3548111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9314" y="2133600"/>
            <a:ext cx="6415315" cy="2148114"/>
          </a:xfrm>
        </p:spPr>
        <p:txBody>
          <a:bodyPr>
            <a:normAutofit/>
          </a:bodyPr>
          <a:lstStyle/>
          <a:p>
            <a:pPr marL="0" indent="0" algn="ctr" rtl="1">
              <a:lnSpc>
                <a:spcPct val="150000"/>
              </a:lnSpc>
              <a:buNone/>
            </a:pPr>
            <a:r>
              <a:rPr lang="ps-AF" sz="7200" b="1" dirty="0">
                <a:solidFill>
                  <a:schemeClr val="tx1"/>
                </a:solidFill>
                <a:latin typeface="Bahij Nazanin" panose="02040503050201020203" pitchFamily="18" charset="-78"/>
                <a:cs typeface="Bahij Nazanin" panose="02040503050201020203" pitchFamily="18" charset="-78"/>
              </a:rPr>
              <a:t>پای</a:t>
            </a:r>
            <a:endParaRPr lang="en-US" sz="7200" b="1" dirty="0">
              <a:solidFill>
                <a:schemeClr val="tx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4202984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126631" y="1831521"/>
            <a:ext cx="3783163" cy="3778250"/>
          </a:xfrm>
          <a:prstGeom prst="rect">
            <a:avLst/>
          </a:prstGeom>
        </p:spPr>
      </p:pic>
    </p:spTree>
    <p:extLst>
      <p:ext uri="{BB962C8B-B14F-4D97-AF65-F5344CB8AC3E}">
        <p14:creationId xmlns:p14="http://schemas.microsoft.com/office/powerpoint/2010/main" val="111995088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86</TotalTime>
  <Words>637</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Bahij Badr</vt:lpstr>
      <vt:lpstr>Bahij Nazanin</vt:lpstr>
      <vt:lpstr>Century Gothic</vt:lpstr>
      <vt:lpstr>Times New Roman</vt:lpstr>
      <vt:lpstr>Wingdings</vt:lpstr>
      <vt:lpstr>Wingdings 3</vt:lpstr>
      <vt:lpstr>Wisp</vt:lpstr>
      <vt:lpstr>لومړی لوست </vt:lpstr>
      <vt:lpstr>لیکوالي څه ده؟</vt:lpstr>
      <vt:lpstr>PowerPoint Presentation</vt:lpstr>
      <vt:lpstr>د اسلام له نظره د لیکوالۍ ارزښت   </vt:lpstr>
      <vt:lpstr>ادامه...</vt:lpstr>
      <vt:lpstr>ادامه...</vt:lpstr>
      <vt:lpstr>د مسلمان لیکوال مکلفیتونه </vt:lpstr>
      <vt:lpstr>PowerPoint Presentation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لومړی لوست</dc:title>
  <dc:creator>Moorche</dc:creator>
  <cp:lastModifiedBy>Ezatullah Noorzai</cp:lastModifiedBy>
  <cp:revision>42</cp:revision>
  <dcterms:created xsi:type="dcterms:W3CDTF">2024-05-04T17:14:58Z</dcterms:created>
  <dcterms:modified xsi:type="dcterms:W3CDTF">2026-08-16T06:07:00Z</dcterms:modified>
</cp:coreProperties>
</file>